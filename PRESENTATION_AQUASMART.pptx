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65" r:id="rId20"/>
    <p:sldId id="276" r:id="rId21"/>
    <p:sldId id="275" r:id="rId22"/>
  </p:sldIdLst>
  <p:sldSz cx="14630400" cy="8229600"/>
  <p:notesSz cx="8229600" cy="14630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0" d="100"/>
          <a:sy n="40" d="100"/>
        </p:scale>
        <p:origin x="20" y="2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ura 😊😊" userId="98adb8d6e8555b98" providerId="LiveId" clId="{53547781-C488-4429-A917-7B409D4B1893}"/>
    <pc:docChg chg="modSld sldOrd">
      <pc:chgData name="Noura 😊😊" userId="98adb8d6e8555b98" providerId="LiveId" clId="{53547781-C488-4429-A917-7B409D4B1893}" dt="2026-04-22T23:13:32.525" v="1"/>
      <pc:docMkLst>
        <pc:docMk/>
      </pc:docMkLst>
      <pc:sldChg chg="ord">
        <pc:chgData name="Noura 😊😊" userId="98adb8d6e8555b98" providerId="LiveId" clId="{53547781-C488-4429-A917-7B409D4B1893}" dt="2026-04-22T23:13:32.525" v="1"/>
        <pc:sldMkLst>
          <pc:docMk/>
          <pc:sldMk cId="1009866200"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8780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5529" y="2028230"/>
            <a:ext cx="7845743" cy="2499598"/>
          </a:xfrm>
          <a:prstGeom prst="rect">
            <a:avLst/>
          </a:prstGeom>
          <a:noFill/>
          <a:ln/>
        </p:spPr>
        <p:txBody>
          <a:bodyPr wrap="square" lIns="0" tIns="0" rIns="0" bIns="0" rtlCol="0" anchor="t"/>
          <a:lstStyle/>
          <a:p>
            <a:pPr marL="0" indent="0" algn="l">
              <a:lnSpc>
                <a:spcPts val="6550"/>
              </a:lnSpc>
              <a:buNone/>
            </a:pPr>
            <a:r>
              <a:rPr lang="en-US" sz="5200" b="1" dirty="0">
                <a:solidFill>
                  <a:srgbClr val="787878"/>
                </a:solidFill>
                <a:latin typeface="Baskervville" pitchFamily="34" charset="0"/>
                <a:ea typeface="Baskervville" pitchFamily="34" charset="-122"/>
                <a:cs typeface="Baskervville" pitchFamily="34" charset="-120"/>
              </a:rPr>
              <a:t>AquaSmart — Plateforme d'optimisation intelligente de l'eau</a:t>
            </a:r>
            <a:endParaRPr lang="en-US" sz="5200" dirty="0"/>
          </a:p>
        </p:txBody>
      </p:sp>
      <p:sp>
        <p:nvSpPr>
          <p:cNvPr id="4" name="Text 1"/>
          <p:cNvSpPr/>
          <p:nvPr/>
        </p:nvSpPr>
        <p:spPr>
          <a:xfrm>
            <a:off x="6135529" y="4805958"/>
            <a:ext cx="7845743"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AI‑Powered Smart Water Optimization Platform for Sustainable Farming in Souss‑Massa. </a:t>
            </a:r>
            <a:endParaRPr lang="en-US" sz="1450" dirty="0"/>
          </a:p>
        </p:txBody>
      </p:sp>
      <p:sp>
        <p:nvSpPr>
          <p:cNvPr id="5" name="Text 2"/>
          <p:cNvSpPr/>
          <p:nvPr/>
        </p:nvSpPr>
        <p:spPr>
          <a:xfrm>
            <a:off x="6135529" y="5607963"/>
            <a:ext cx="7845743"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Projet réalisé par : ABAKRI Noura </a:t>
            </a:r>
            <a:r>
              <a:rPr lang="en-US" sz="1450" b="1" dirty="0">
                <a:solidFill>
                  <a:srgbClr val="6E6666"/>
                </a:solidFill>
                <a:latin typeface="Poppins" pitchFamily="34" charset="0"/>
                <a:ea typeface="Poppins" pitchFamily="34" charset="-122"/>
                <a:cs typeface="Poppins" pitchFamily="34" charset="-120"/>
              </a:rPr>
              <a:t>IISE</a:t>
            </a:r>
            <a:r>
              <a:rPr lang="en-US" sz="1450" dirty="0">
                <a:solidFill>
                  <a:srgbClr val="6E6666"/>
                </a:solidFill>
                <a:latin typeface="Poppins" pitchFamily="34" charset="0"/>
                <a:ea typeface="Poppins" pitchFamily="34" charset="-122"/>
                <a:cs typeface="Poppins" pitchFamily="34" charset="-120"/>
              </a:rPr>
              <a:t> , LOUHABI Mohamed </a:t>
            </a:r>
            <a:r>
              <a:rPr lang="en-US" sz="1450" b="1" dirty="0">
                <a:solidFill>
                  <a:srgbClr val="6E6666"/>
                </a:solidFill>
                <a:latin typeface="Poppins" pitchFamily="34" charset="0"/>
                <a:ea typeface="Poppins" pitchFamily="34" charset="-122"/>
                <a:cs typeface="Poppins" pitchFamily="34" charset="-120"/>
              </a:rPr>
              <a:t>IL</a:t>
            </a:r>
            <a:r>
              <a:rPr lang="en-US" sz="1450" dirty="0">
                <a:solidFill>
                  <a:srgbClr val="6E6666"/>
                </a:solidFill>
                <a:latin typeface="Poppins" pitchFamily="34" charset="0"/>
                <a:ea typeface="Poppins" pitchFamily="34" charset="-122"/>
                <a:cs typeface="Poppins" pitchFamily="34" charset="-120"/>
              </a:rPr>
              <a:t> , IBOUBKARNE Fatima </a:t>
            </a:r>
            <a:r>
              <a:rPr lang="en-US" sz="1450" b="1" dirty="0">
                <a:solidFill>
                  <a:srgbClr val="6E6666"/>
                </a:solidFill>
                <a:latin typeface="Poppins" pitchFamily="34" charset="0"/>
                <a:ea typeface="Poppins" pitchFamily="34" charset="-122"/>
                <a:cs typeface="Poppins" pitchFamily="34" charset="-120"/>
              </a:rPr>
              <a:t>ADIA</a:t>
            </a:r>
            <a:r>
              <a:rPr lang="en-US" sz="1450" dirty="0">
                <a:solidFill>
                  <a:srgbClr val="6E6666"/>
                </a:solidFill>
                <a:latin typeface="Poppins" pitchFamily="34" charset="0"/>
                <a:ea typeface="Poppins" pitchFamily="34" charset="-122"/>
                <a:cs typeface="Poppins" pitchFamily="34" charset="-120"/>
              </a:rPr>
              <a:t> —2025/2026.</a:t>
            </a:r>
            <a:endParaRPr lang="en-US" sz="1450" dirty="0"/>
          </a:p>
        </p:txBody>
      </p:sp>
      <p:sp>
        <p:nvSpPr>
          <p:cNvPr id="6" name="Rectangle 5">
            <a:extLst>
              <a:ext uri="{FF2B5EF4-FFF2-40B4-BE49-F238E27FC236}">
                <a16:creationId xmlns:a16="http://schemas.microsoft.com/office/drawing/2014/main" id="{2F45B6E9-B980-386F-2A50-4A0912C54B91}"/>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9129" y="1927503"/>
            <a:ext cx="6665952"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Contexte &amp; enjeu</a:t>
            </a:r>
            <a:endParaRPr lang="en-US" sz="5200" dirty="0"/>
          </a:p>
        </p:txBody>
      </p:sp>
      <p:pic>
        <p:nvPicPr>
          <p:cNvPr id="3" name="Image 0" descr="preencoded.png"/>
          <p:cNvPicPr>
            <a:picLocks noChangeAspect="1"/>
          </p:cNvPicPr>
          <p:nvPr/>
        </p:nvPicPr>
        <p:blipFill>
          <a:blip r:embed="rId3"/>
          <a:stretch>
            <a:fillRect/>
          </a:stretch>
        </p:blipFill>
        <p:spPr>
          <a:xfrm>
            <a:off x="649129" y="3247430"/>
            <a:ext cx="5061347" cy="2846070"/>
          </a:xfrm>
          <a:prstGeom prst="rect">
            <a:avLst/>
          </a:prstGeom>
        </p:spPr>
      </p:pic>
      <p:sp>
        <p:nvSpPr>
          <p:cNvPr id="4" name="Text 1"/>
          <p:cNvSpPr/>
          <p:nvPr/>
        </p:nvSpPr>
        <p:spPr>
          <a:xfrm>
            <a:off x="6170533" y="3553539"/>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787878"/>
                </a:solidFill>
                <a:latin typeface="Baskervville" pitchFamily="34" charset="0"/>
                <a:ea typeface="Baskervville" pitchFamily="34" charset="-122"/>
                <a:cs typeface="Baskervville" pitchFamily="34" charset="-120"/>
              </a:rPr>
              <a:t>Problématique</a:t>
            </a:r>
            <a:endParaRPr lang="en-US" sz="2600" dirty="0"/>
          </a:p>
        </p:txBody>
      </p:sp>
      <p:sp>
        <p:nvSpPr>
          <p:cNvPr id="5" name="Text 2"/>
          <p:cNvSpPr/>
          <p:nvPr/>
        </p:nvSpPr>
        <p:spPr>
          <a:xfrm>
            <a:off x="6170533" y="4155400"/>
            <a:ext cx="7818239" cy="890111"/>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La région de Souss‑Massa subit une raréfaction de l'eau : surexploitation des nappes, sécheresses récurrentes et pratiques d'irrigation inefficaces. L'agriculture consomme &gt;80% de l'eau dans les pays en développement (FAO).</a:t>
            </a:r>
            <a:endParaRPr lang="en-US" sz="1450" dirty="0"/>
          </a:p>
        </p:txBody>
      </p:sp>
      <p:sp>
        <p:nvSpPr>
          <p:cNvPr id="6" name="Text 3"/>
          <p:cNvSpPr/>
          <p:nvPr/>
        </p:nvSpPr>
        <p:spPr>
          <a:xfrm>
            <a:off x="6170533" y="5212437"/>
            <a:ext cx="7818239"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 Objectif : développer une solution locale, accessible et intelligente pour optimiser l'irrigation en tenant compte des contraintes économiques et sociales.</a:t>
            </a:r>
            <a:endParaRPr lang="en-US" sz="1450" dirty="0"/>
          </a:p>
        </p:txBody>
      </p:sp>
      <p:sp>
        <p:nvSpPr>
          <p:cNvPr id="7" name="Rectangle 6">
            <a:extLst>
              <a:ext uri="{FF2B5EF4-FFF2-40B4-BE49-F238E27FC236}">
                <a16:creationId xmlns:a16="http://schemas.microsoft.com/office/drawing/2014/main" id="{A8CDEE17-CA5E-41E1-3EB5-8A2B07781BE8}"/>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39008" y="586145"/>
            <a:ext cx="6561773" cy="820103"/>
          </a:xfrm>
          <a:prstGeom prst="rect">
            <a:avLst/>
          </a:prstGeom>
          <a:noFill/>
          <a:ln/>
        </p:spPr>
        <p:txBody>
          <a:bodyPr wrap="none" lIns="0" tIns="0" rIns="0" bIns="0" rtlCol="0" anchor="t"/>
          <a:lstStyle/>
          <a:p>
            <a:pPr marL="0" indent="0" algn="l">
              <a:lnSpc>
                <a:spcPts val="6450"/>
              </a:lnSpc>
              <a:buNone/>
            </a:pPr>
            <a:r>
              <a:rPr lang="en-US" sz="5150" dirty="0">
                <a:solidFill>
                  <a:srgbClr val="787878"/>
                </a:solidFill>
                <a:latin typeface="Baskervville" pitchFamily="34" charset="0"/>
                <a:ea typeface="Baskervville" pitchFamily="34" charset="-122"/>
                <a:cs typeface="Baskervville" pitchFamily="34" charset="-120"/>
              </a:rPr>
              <a:t>Revue de littérature </a:t>
            </a:r>
            <a:endParaRPr lang="en-US" sz="515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9008" y="1675805"/>
            <a:ext cx="456367" cy="456367"/>
          </a:xfrm>
          <a:prstGeom prst="rect">
            <a:avLst/>
          </a:prstGeom>
        </p:spPr>
      </p:pic>
      <p:sp>
        <p:nvSpPr>
          <p:cNvPr id="5" name="Text 1"/>
          <p:cNvSpPr/>
          <p:nvPr/>
        </p:nvSpPr>
        <p:spPr>
          <a:xfrm>
            <a:off x="639008" y="2356842"/>
            <a:ext cx="3280886" cy="410170"/>
          </a:xfrm>
          <a:prstGeom prst="rect">
            <a:avLst/>
          </a:prstGeom>
          <a:noFill/>
          <a:ln/>
        </p:spPr>
        <p:txBody>
          <a:bodyPr wrap="none" lIns="0" tIns="0" rIns="0" bIns="0" rtlCol="0" anchor="t"/>
          <a:lstStyle/>
          <a:p>
            <a:pPr marL="0" indent="0" algn="l">
              <a:lnSpc>
                <a:spcPts val="3200"/>
              </a:lnSpc>
              <a:buNone/>
            </a:pPr>
            <a:r>
              <a:rPr lang="en-US" sz="2550" dirty="0">
                <a:solidFill>
                  <a:srgbClr val="6E6666"/>
                </a:solidFill>
                <a:latin typeface="Baskervville" pitchFamily="34" charset="0"/>
                <a:ea typeface="Baskervville" pitchFamily="34" charset="-122"/>
                <a:cs typeface="Baskervville" pitchFamily="34" charset="-120"/>
              </a:rPr>
              <a:t>IoT et données</a:t>
            </a:r>
            <a:endParaRPr lang="en-US" sz="2550" dirty="0"/>
          </a:p>
        </p:txBody>
      </p:sp>
      <p:sp>
        <p:nvSpPr>
          <p:cNvPr id="6" name="Text 2"/>
          <p:cNvSpPr/>
          <p:nvPr/>
        </p:nvSpPr>
        <p:spPr>
          <a:xfrm>
            <a:off x="639008" y="2874764"/>
            <a:ext cx="7865983" cy="289917"/>
          </a:xfrm>
          <a:prstGeom prst="rect">
            <a:avLst/>
          </a:prstGeom>
          <a:noFill/>
          <a:ln/>
        </p:spPr>
        <p:txBody>
          <a:bodyPr wrap="none" lIns="0" tIns="0" rIns="0" bIns="0" rtlCol="0" anchor="t"/>
          <a:lstStyle/>
          <a:p>
            <a:pPr marL="0" indent="0" algn="l">
              <a:lnSpc>
                <a:spcPts val="2250"/>
              </a:lnSpc>
              <a:buNone/>
            </a:pPr>
            <a:r>
              <a:rPr lang="en-US" sz="1400" dirty="0">
                <a:solidFill>
                  <a:srgbClr val="6E6666"/>
                </a:solidFill>
                <a:latin typeface="Poppins" pitchFamily="34" charset="0"/>
                <a:ea typeface="Poppins" pitchFamily="34" charset="-122"/>
                <a:cs typeface="Poppins" pitchFamily="34" charset="-120"/>
              </a:rPr>
              <a:t>Collecte en temps réel pour ajuster l'irrigation (Zhang et al., 2020).</a:t>
            </a:r>
            <a:endParaRPr lang="en-US" sz="14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9008" y="3524131"/>
            <a:ext cx="456367" cy="456367"/>
          </a:xfrm>
          <a:prstGeom prst="rect">
            <a:avLst/>
          </a:prstGeom>
        </p:spPr>
      </p:pic>
      <p:sp>
        <p:nvSpPr>
          <p:cNvPr id="8" name="Text 3"/>
          <p:cNvSpPr/>
          <p:nvPr/>
        </p:nvSpPr>
        <p:spPr>
          <a:xfrm>
            <a:off x="639008" y="4205168"/>
            <a:ext cx="3280886" cy="410170"/>
          </a:xfrm>
          <a:prstGeom prst="rect">
            <a:avLst/>
          </a:prstGeom>
          <a:noFill/>
          <a:ln/>
        </p:spPr>
        <p:txBody>
          <a:bodyPr wrap="none" lIns="0" tIns="0" rIns="0" bIns="0" rtlCol="0" anchor="t"/>
          <a:lstStyle/>
          <a:p>
            <a:pPr marL="0" indent="0" algn="l">
              <a:lnSpc>
                <a:spcPts val="3200"/>
              </a:lnSpc>
              <a:buNone/>
            </a:pPr>
            <a:r>
              <a:rPr lang="en-US" sz="2550" dirty="0">
                <a:solidFill>
                  <a:srgbClr val="6E6666"/>
                </a:solidFill>
                <a:latin typeface="Baskervville" pitchFamily="34" charset="0"/>
                <a:ea typeface="Baskervville" pitchFamily="34" charset="-122"/>
                <a:cs typeface="Baskervville" pitchFamily="34" charset="-120"/>
              </a:rPr>
              <a:t>Machine Learning</a:t>
            </a:r>
            <a:endParaRPr lang="en-US" sz="2550" dirty="0"/>
          </a:p>
        </p:txBody>
      </p:sp>
      <p:sp>
        <p:nvSpPr>
          <p:cNvPr id="9" name="Text 4"/>
          <p:cNvSpPr/>
          <p:nvPr/>
        </p:nvSpPr>
        <p:spPr>
          <a:xfrm>
            <a:off x="639008" y="4723090"/>
            <a:ext cx="7865983" cy="289917"/>
          </a:xfrm>
          <a:prstGeom prst="rect">
            <a:avLst/>
          </a:prstGeom>
          <a:noFill/>
          <a:ln/>
        </p:spPr>
        <p:txBody>
          <a:bodyPr wrap="none" lIns="0" tIns="0" rIns="0" bIns="0" rtlCol="0" anchor="t"/>
          <a:lstStyle/>
          <a:p>
            <a:pPr marL="0" indent="0" algn="l">
              <a:lnSpc>
                <a:spcPts val="2250"/>
              </a:lnSpc>
              <a:buNone/>
            </a:pPr>
            <a:r>
              <a:rPr lang="en-US" sz="1400" dirty="0">
                <a:solidFill>
                  <a:srgbClr val="6E6666"/>
                </a:solidFill>
                <a:latin typeface="Poppins" pitchFamily="34" charset="0"/>
                <a:ea typeface="Poppins" pitchFamily="34" charset="-122"/>
                <a:cs typeface="Poppins" pitchFamily="34" charset="-120"/>
              </a:rPr>
              <a:t>Précision des décisions ; réduction d'eau observée : 20–40% (Patel &amp; Shah, 2021).</a:t>
            </a:r>
            <a:endParaRPr lang="en-US" sz="14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9008" y="5372457"/>
            <a:ext cx="456367" cy="456367"/>
          </a:xfrm>
          <a:prstGeom prst="rect">
            <a:avLst/>
          </a:prstGeom>
        </p:spPr>
      </p:pic>
      <p:sp>
        <p:nvSpPr>
          <p:cNvPr id="11" name="Text 5"/>
          <p:cNvSpPr/>
          <p:nvPr/>
        </p:nvSpPr>
        <p:spPr>
          <a:xfrm>
            <a:off x="639008" y="6053495"/>
            <a:ext cx="3280886" cy="410170"/>
          </a:xfrm>
          <a:prstGeom prst="rect">
            <a:avLst/>
          </a:prstGeom>
          <a:noFill/>
          <a:ln/>
        </p:spPr>
        <p:txBody>
          <a:bodyPr wrap="none" lIns="0" tIns="0" rIns="0" bIns="0" rtlCol="0" anchor="t"/>
          <a:lstStyle/>
          <a:p>
            <a:pPr marL="0" indent="0" algn="l">
              <a:lnSpc>
                <a:spcPts val="3200"/>
              </a:lnSpc>
              <a:buNone/>
            </a:pPr>
            <a:r>
              <a:rPr lang="en-US" sz="2550" dirty="0">
                <a:solidFill>
                  <a:srgbClr val="6E6666"/>
                </a:solidFill>
                <a:latin typeface="Baskervville" pitchFamily="34" charset="0"/>
                <a:ea typeface="Baskervville" pitchFamily="34" charset="-122"/>
                <a:cs typeface="Baskervville" pitchFamily="34" charset="-120"/>
              </a:rPr>
              <a:t>Limites existantes</a:t>
            </a:r>
            <a:endParaRPr lang="en-US" sz="2550" dirty="0"/>
          </a:p>
        </p:txBody>
      </p:sp>
      <p:sp>
        <p:nvSpPr>
          <p:cNvPr id="12" name="Text 6"/>
          <p:cNvSpPr/>
          <p:nvPr/>
        </p:nvSpPr>
        <p:spPr>
          <a:xfrm>
            <a:off x="639008" y="6571417"/>
            <a:ext cx="7865983" cy="579834"/>
          </a:xfrm>
          <a:prstGeom prst="rect">
            <a:avLst/>
          </a:prstGeom>
          <a:noFill/>
          <a:ln/>
        </p:spPr>
        <p:txBody>
          <a:bodyPr wrap="square" lIns="0" tIns="0" rIns="0" bIns="0" rtlCol="0" anchor="t"/>
          <a:lstStyle/>
          <a:p>
            <a:pPr marL="0" indent="0" algn="l">
              <a:lnSpc>
                <a:spcPts val="2250"/>
              </a:lnSpc>
              <a:buNone/>
            </a:pPr>
            <a:r>
              <a:rPr lang="en-US" sz="1400" dirty="0">
                <a:solidFill>
                  <a:srgbClr val="6E6666"/>
                </a:solidFill>
                <a:latin typeface="Poppins" pitchFamily="34" charset="0"/>
                <a:ea typeface="Poppins" pitchFamily="34" charset="-122"/>
                <a:cs typeface="Poppins" pitchFamily="34" charset="-120"/>
              </a:rPr>
              <a:t>Coût, complexité et inadéquation aux petits exploitants → besoin d'une solution simple et localisée.</a:t>
            </a:r>
            <a:endParaRPr lang="en-US" sz="1400" dirty="0"/>
          </a:p>
        </p:txBody>
      </p:sp>
      <p:sp>
        <p:nvSpPr>
          <p:cNvPr id="13" name="Text 7"/>
          <p:cNvSpPr/>
          <p:nvPr/>
        </p:nvSpPr>
        <p:spPr>
          <a:xfrm>
            <a:off x="639008" y="7353419"/>
            <a:ext cx="7865983" cy="289917"/>
          </a:xfrm>
          <a:prstGeom prst="rect">
            <a:avLst/>
          </a:prstGeom>
          <a:noFill/>
          <a:ln/>
        </p:spPr>
        <p:txBody>
          <a:bodyPr wrap="none" lIns="0" tIns="0" rIns="0" bIns="0" rtlCol="0" anchor="t"/>
          <a:lstStyle/>
          <a:p>
            <a:pPr marL="0" indent="0" algn="l">
              <a:lnSpc>
                <a:spcPts val="2250"/>
              </a:lnSpc>
              <a:buNone/>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5529" y="2188845"/>
            <a:ext cx="6665952"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Objectifs du projet</a:t>
            </a:r>
            <a:endParaRPr lang="en-US" sz="5200" dirty="0"/>
          </a:p>
        </p:txBody>
      </p:sp>
      <p:sp>
        <p:nvSpPr>
          <p:cNvPr id="4" name="Shape 1"/>
          <p:cNvSpPr/>
          <p:nvPr/>
        </p:nvSpPr>
        <p:spPr>
          <a:xfrm>
            <a:off x="6135529" y="3300174"/>
            <a:ext cx="417314" cy="417314"/>
          </a:xfrm>
          <a:prstGeom prst="roundRect">
            <a:avLst>
              <a:gd name="adj" fmla="val 66672"/>
            </a:avLst>
          </a:prstGeom>
          <a:solidFill>
            <a:srgbClr val="ECDFE3"/>
          </a:solidFill>
          <a:ln/>
        </p:spPr>
      </p:sp>
      <p:sp>
        <p:nvSpPr>
          <p:cNvPr id="5" name="Text 2"/>
          <p:cNvSpPr/>
          <p:nvPr/>
        </p:nvSpPr>
        <p:spPr>
          <a:xfrm>
            <a:off x="6738223" y="3363873"/>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6E6666"/>
                </a:solidFill>
                <a:latin typeface="Baskervville" pitchFamily="34" charset="0"/>
                <a:ea typeface="Baskervville" pitchFamily="34" charset="-122"/>
                <a:cs typeface="Baskervville" pitchFamily="34" charset="-120"/>
              </a:rPr>
              <a:t>Objectif général</a:t>
            </a:r>
            <a:endParaRPr lang="en-US" sz="2600" dirty="0"/>
          </a:p>
        </p:txBody>
      </p:sp>
      <p:sp>
        <p:nvSpPr>
          <p:cNvPr id="6" name="Text 3"/>
          <p:cNvSpPr/>
          <p:nvPr/>
        </p:nvSpPr>
        <p:spPr>
          <a:xfrm>
            <a:off x="6738223" y="3891558"/>
            <a:ext cx="7243048"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Développer un système intelligent pour optimiser l'irrigation et réduire la consommation d'eau.</a:t>
            </a:r>
            <a:endParaRPr lang="en-US" sz="1450" dirty="0"/>
          </a:p>
        </p:txBody>
      </p:sp>
      <p:sp>
        <p:nvSpPr>
          <p:cNvPr id="7" name="Shape 4"/>
          <p:cNvSpPr/>
          <p:nvPr/>
        </p:nvSpPr>
        <p:spPr>
          <a:xfrm>
            <a:off x="6135529" y="4855845"/>
            <a:ext cx="417314" cy="417314"/>
          </a:xfrm>
          <a:prstGeom prst="roundRect">
            <a:avLst>
              <a:gd name="adj" fmla="val 66672"/>
            </a:avLst>
          </a:prstGeom>
          <a:solidFill>
            <a:srgbClr val="ECDFE3"/>
          </a:solidFill>
          <a:ln/>
        </p:spPr>
      </p:sp>
      <p:sp>
        <p:nvSpPr>
          <p:cNvPr id="8" name="Text 5"/>
          <p:cNvSpPr/>
          <p:nvPr/>
        </p:nvSpPr>
        <p:spPr>
          <a:xfrm>
            <a:off x="6738223" y="4919543"/>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6E6666"/>
                </a:solidFill>
                <a:latin typeface="Baskervville" pitchFamily="34" charset="0"/>
                <a:ea typeface="Baskervville" pitchFamily="34" charset="-122"/>
                <a:cs typeface="Baskervville" pitchFamily="34" charset="-120"/>
              </a:rPr>
              <a:t>Objectifs spécifiques</a:t>
            </a:r>
            <a:endParaRPr lang="en-US" sz="2600" dirty="0"/>
          </a:p>
        </p:txBody>
      </p:sp>
      <p:sp>
        <p:nvSpPr>
          <p:cNvPr id="9" name="Text 6"/>
          <p:cNvSpPr/>
          <p:nvPr/>
        </p:nvSpPr>
        <p:spPr>
          <a:xfrm>
            <a:off x="6738223" y="5447228"/>
            <a:ext cx="7243048"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Collecte de données en temps réel, analyse pour guider l'irrigation, prédiction des besoins, interface simple pour agriculteurs.</a:t>
            </a:r>
            <a:endParaRPr lang="en-US" sz="1450" dirty="0"/>
          </a:p>
        </p:txBody>
      </p:sp>
      <p:sp>
        <p:nvSpPr>
          <p:cNvPr id="10" name="Rectangle 9">
            <a:extLst>
              <a:ext uri="{FF2B5EF4-FFF2-40B4-BE49-F238E27FC236}">
                <a16:creationId xmlns:a16="http://schemas.microsoft.com/office/drawing/2014/main" id="{1ED83514-3A87-16DD-07CF-A8EAD03BEB13}"/>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9129" y="816054"/>
            <a:ext cx="13112353"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Solution proposée — Architecture en 3 piliers</a:t>
            </a:r>
            <a:endParaRPr lang="en-US" sz="5200" dirty="0"/>
          </a:p>
        </p:txBody>
      </p:sp>
      <p:pic>
        <p:nvPicPr>
          <p:cNvPr id="3" name="Image 0" descr="preencoded.png"/>
          <p:cNvPicPr>
            <a:picLocks noChangeAspect="1"/>
          </p:cNvPicPr>
          <p:nvPr/>
        </p:nvPicPr>
        <p:blipFill>
          <a:blip r:embed="rId3"/>
          <a:stretch>
            <a:fillRect/>
          </a:stretch>
        </p:blipFill>
        <p:spPr>
          <a:xfrm>
            <a:off x="656749" y="3279219"/>
            <a:ext cx="6424612" cy="2782253"/>
          </a:xfrm>
          <a:prstGeom prst="rect">
            <a:avLst/>
          </a:prstGeom>
        </p:spPr>
      </p:pic>
      <p:sp>
        <p:nvSpPr>
          <p:cNvPr id="4" name="Shape 1"/>
          <p:cNvSpPr/>
          <p:nvPr/>
        </p:nvSpPr>
        <p:spPr>
          <a:xfrm>
            <a:off x="7549039" y="2135981"/>
            <a:ext cx="185380" cy="1566029"/>
          </a:xfrm>
          <a:prstGeom prst="roundRect">
            <a:avLst>
              <a:gd name="adj" fmla="val 150088"/>
            </a:avLst>
          </a:prstGeom>
          <a:solidFill>
            <a:srgbClr val="ECDFE3"/>
          </a:solidFill>
          <a:ln/>
        </p:spPr>
      </p:sp>
      <p:sp>
        <p:nvSpPr>
          <p:cNvPr id="5" name="Text 2"/>
          <p:cNvSpPr/>
          <p:nvPr/>
        </p:nvSpPr>
        <p:spPr>
          <a:xfrm>
            <a:off x="7919799" y="2321362"/>
            <a:ext cx="3615928" cy="416481"/>
          </a:xfrm>
          <a:prstGeom prst="rect">
            <a:avLst/>
          </a:prstGeom>
          <a:noFill/>
          <a:ln/>
        </p:spPr>
        <p:txBody>
          <a:bodyPr wrap="none" lIns="0" tIns="0" rIns="0" bIns="0" rtlCol="0" anchor="t"/>
          <a:lstStyle/>
          <a:p>
            <a:pPr marL="0" indent="0" algn="l">
              <a:lnSpc>
                <a:spcPts val="3250"/>
              </a:lnSpc>
              <a:buNone/>
            </a:pPr>
            <a:r>
              <a:rPr lang="en-US" sz="2600" dirty="0">
                <a:solidFill>
                  <a:srgbClr val="6E6666"/>
                </a:solidFill>
                <a:latin typeface="Baskervville" pitchFamily="34" charset="0"/>
                <a:ea typeface="Baskervville" pitchFamily="34" charset="-122"/>
                <a:cs typeface="Baskervville" pitchFamily="34" charset="-120"/>
              </a:rPr>
              <a:t>Système embarqué (IoT)</a:t>
            </a:r>
            <a:endParaRPr lang="en-US" sz="2600" dirty="0"/>
          </a:p>
        </p:txBody>
      </p:sp>
      <p:sp>
        <p:nvSpPr>
          <p:cNvPr id="6" name="Text 3"/>
          <p:cNvSpPr/>
          <p:nvPr/>
        </p:nvSpPr>
        <p:spPr>
          <a:xfrm>
            <a:off x="7919799" y="2923223"/>
            <a:ext cx="6069092"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Capteurs (humidité sol, température, humidité air) + ESP32 → collecte, format JSON et transmission WiFi.</a:t>
            </a:r>
            <a:endParaRPr lang="en-US" sz="1450" dirty="0"/>
          </a:p>
        </p:txBody>
      </p:sp>
      <p:sp>
        <p:nvSpPr>
          <p:cNvPr id="7" name="Shape 4"/>
          <p:cNvSpPr/>
          <p:nvPr/>
        </p:nvSpPr>
        <p:spPr>
          <a:xfrm>
            <a:off x="7827169" y="3887391"/>
            <a:ext cx="185380" cy="1566029"/>
          </a:xfrm>
          <a:prstGeom prst="roundRect">
            <a:avLst>
              <a:gd name="adj" fmla="val 150088"/>
            </a:avLst>
          </a:prstGeom>
          <a:solidFill>
            <a:srgbClr val="ECDFE3"/>
          </a:solidFill>
          <a:ln/>
        </p:spPr>
      </p:sp>
      <p:sp>
        <p:nvSpPr>
          <p:cNvPr id="8" name="Text 5"/>
          <p:cNvSpPr/>
          <p:nvPr/>
        </p:nvSpPr>
        <p:spPr>
          <a:xfrm>
            <a:off x="8197929" y="4072771"/>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6E6666"/>
                </a:solidFill>
                <a:latin typeface="Baskervville" pitchFamily="34" charset="0"/>
                <a:ea typeface="Baskervville" pitchFamily="34" charset="-122"/>
                <a:cs typeface="Baskervville" pitchFamily="34" charset="-120"/>
              </a:rPr>
              <a:t>Plateforme logicielle</a:t>
            </a:r>
            <a:endParaRPr lang="en-US" sz="2600" dirty="0"/>
          </a:p>
        </p:txBody>
      </p:sp>
      <p:sp>
        <p:nvSpPr>
          <p:cNvPr id="9" name="Text 6"/>
          <p:cNvSpPr/>
          <p:nvPr/>
        </p:nvSpPr>
        <p:spPr>
          <a:xfrm>
            <a:off x="8197929" y="4674632"/>
            <a:ext cx="5790962"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Backend Flask + frontend web : visualisation temps réel, stockage (SQLite), API REST et recommandations IA.</a:t>
            </a:r>
            <a:endParaRPr lang="en-US" sz="1450" dirty="0"/>
          </a:p>
        </p:txBody>
      </p:sp>
      <p:sp>
        <p:nvSpPr>
          <p:cNvPr id="10" name="Shape 7"/>
          <p:cNvSpPr/>
          <p:nvPr/>
        </p:nvSpPr>
        <p:spPr>
          <a:xfrm>
            <a:off x="8105418" y="5638800"/>
            <a:ext cx="185380" cy="1566029"/>
          </a:xfrm>
          <a:prstGeom prst="roundRect">
            <a:avLst>
              <a:gd name="adj" fmla="val 150088"/>
            </a:avLst>
          </a:prstGeom>
          <a:solidFill>
            <a:srgbClr val="ECDFE3"/>
          </a:solidFill>
          <a:ln/>
        </p:spPr>
      </p:sp>
      <p:sp>
        <p:nvSpPr>
          <p:cNvPr id="11" name="Text 8"/>
          <p:cNvSpPr/>
          <p:nvPr/>
        </p:nvSpPr>
        <p:spPr>
          <a:xfrm>
            <a:off x="8476178" y="5824180"/>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6E6666"/>
                </a:solidFill>
                <a:latin typeface="Baskervville" pitchFamily="34" charset="0"/>
                <a:ea typeface="Baskervville" pitchFamily="34" charset="-122"/>
                <a:cs typeface="Baskervville" pitchFamily="34" charset="-120"/>
              </a:rPr>
              <a:t>Module IA</a:t>
            </a:r>
            <a:endParaRPr lang="en-US" sz="2600" dirty="0"/>
          </a:p>
        </p:txBody>
      </p:sp>
      <p:sp>
        <p:nvSpPr>
          <p:cNvPr id="12" name="Text 9"/>
          <p:cNvSpPr/>
          <p:nvPr/>
        </p:nvSpPr>
        <p:spPr>
          <a:xfrm>
            <a:off x="8476178" y="6426041"/>
            <a:ext cx="5512713"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Random Forest (classification &amp; régression) pour décision d'irrigation et estimation de la quantité d'eau.</a:t>
            </a:r>
            <a:endParaRPr lang="en-US" sz="1450" dirty="0"/>
          </a:p>
        </p:txBody>
      </p:sp>
      <p:sp>
        <p:nvSpPr>
          <p:cNvPr id="13" name="Rectangle 12">
            <a:extLst>
              <a:ext uri="{FF2B5EF4-FFF2-40B4-BE49-F238E27FC236}">
                <a16:creationId xmlns:a16="http://schemas.microsoft.com/office/drawing/2014/main" id="{AE83EB3B-A888-708D-4B99-D023ED750B83}"/>
              </a:ext>
            </a:extLst>
          </p:cNvPr>
          <p:cNvSpPr/>
          <p:nvPr/>
        </p:nvSpPr>
        <p:spPr>
          <a:xfrm>
            <a:off x="10214811" y="7615989"/>
            <a:ext cx="5790962" cy="806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9129" y="2268974"/>
            <a:ext cx="11105436"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Système embarqué — rôle &amp; avantages</a:t>
            </a:r>
            <a:endParaRPr lang="en-US" sz="5200" dirty="0"/>
          </a:p>
        </p:txBody>
      </p:sp>
      <p:pic>
        <p:nvPicPr>
          <p:cNvPr id="3" name="Image 0" descr="preencoded.png"/>
          <p:cNvPicPr>
            <a:picLocks noChangeAspect="1"/>
          </p:cNvPicPr>
          <p:nvPr/>
        </p:nvPicPr>
        <p:blipFill>
          <a:blip r:embed="rId3"/>
          <a:stretch>
            <a:fillRect/>
          </a:stretch>
        </p:blipFill>
        <p:spPr>
          <a:xfrm>
            <a:off x="656749" y="3557587"/>
            <a:ext cx="5046107" cy="2225754"/>
          </a:xfrm>
          <a:prstGeom prst="rect">
            <a:avLst/>
          </a:prstGeom>
        </p:spPr>
      </p:pic>
      <p:sp>
        <p:nvSpPr>
          <p:cNvPr id="4" name="Text 1"/>
          <p:cNvSpPr/>
          <p:nvPr/>
        </p:nvSpPr>
        <p:spPr>
          <a:xfrm>
            <a:off x="6170533" y="3780353"/>
            <a:ext cx="7818239" cy="1019889"/>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Acquisition : capteurs traduisent l'état du champ en données numériques.</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Transmission : ESP32 formate et envoie via WiFi pour synchronisation continue.</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Réactivité : irrigation ciblée, alertes sécheresse et ajustements en temps réel.</a:t>
            </a:r>
            <a:endParaRPr lang="en-US" sz="1450" dirty="0"/>
          </a:p>
        </p:txBody>
      </p:sp>
      <p:sp>
        <p:nvSpPr>
          <p:cNvPr id="5" name="Text 2"/>
          <p:cNvSpPr/>
          <p:nvPr/>
        </p:nvSpPr>
        <p:spPr>
          <a:xfrm>
            <a:off x="6170533" y="4967168"/>
            <a:ext cx="7818239"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Avantages : faible coût, installation simple, scalabilité, compatibilité solaire — socle indispensable pour l'IA et la plateforme.</a:t>
            </a:r>
            <a:endParaRPr lang="en-US" sz="1450" dirty="0"/>
          </a:p>
        </p:txBody>
      </p:sp>
      <p:sp>
        <p:nvSpPr>
          <p:cNvPr id="6" name="Rectangle 5">
            <a:extLst>
              <a:ext uri="{FF2B5EF4-FFF2-40B4-BE49-F238E27FC236}">
                <a16:creationId xmlns:a16="http://schemas.microsoft.com/office/drawing/2014/main" id="{610D13CF-F0E9-CC75-55C4-3320E0E1BDC7}"/>
              </a:ext>
            </a:extLst>
          </p:cNvPr>
          <p:cNvSpPr/>
          <p:nvPr/>
        </p:nvSpPr>
        <p:spPr>
          <a:xfrm>
            <a:off x="10214811" y="7615989"/>
            <a:ext cx="5790962" cy="806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90863" y="447437"/>
            <a:ext cx="7619405" cy="637937"/>
          </a:xfrm>
          <a:prstGeom prst="rect">
            <a:avLst/>
          </a:prstGeom>
          <a:noFill/>
          <a:ln/>
        </p:spPr>
        <p:txBody>
          <a:bodyPr wrap="none" lIns="0" tIns="0" rIns="0" bIns="0" rtlCol="0" anchor="t"/>
          <a:lstStyle/>
          <a:p>
            <a:pPr marL="0" indent="0" algn="l">
              <a:lnSpc>
                <a:spcPts val="5000"/>
              </a:lnSpc>
              <a:buNone/>
            </a:pPr>
            <a:r>
              <a:rPr lang="en-US" sz="4000" dirty="0">
                <a:solidFill>
                  <a:srgbClr val="787878"/>
                </a:solidFill>
                <a:latin typeface="Baskervville" pitchFamily="34" charset="0"/>
                <a:ea typeface="Baskervville" pitchFamily="34" charset="-122"/>
                <a:cs typeface="Baskervville" pitchFamily="34" charset="-120"/>
              </a:rPr>
              <a:t>Plateforme logicielle &amp; limitations</a:t>
            </a:r>
            <a:endParaRPr lang="en-US" sz="4000" dirty="0"/>
          </a:p>
        </p:txBody>
      </p:sp>
      <p:pic>
        <p:nvPicPr>
          <p:cNvPr id="3" name="Image 0" descr="preencoded.png"/>
          <p:cNvPicPr>
            <a:picLocks noChangeAspect="1"/>
          </p:cNvPicPr>
          <p:nvPr/>
        </p:nvPicPr>
        <p:blipFill>
          <a:blip r:embed="rId3"/>
          <a:stretch>
            <a:fillRect/>
          </a:stretch>
        </p:blipFill>
        <p:spPr>
          <a:xfrm>
            <a:off x="1190863" y="1370647"/>
            <a:ext cx="6183868" cy="2934295"/>
          </a:xfrm>
          <a:prstGeom prst="rect">
            <a:avLst/>
          </a:prstGeom>
        </p:spPr>
      </p:pic>
      <p:pic>
        <p:nvPicPr>
          <p:cNvPr id="4" name="Image 1" descr="preencoded.png"/>
          <p:cNvPicPr>
            <a:picLocks noChangeAspect="1"/>
          </p:cNvPicPr>
          <p:nvPr/>
        </p:nvPicPr>
        <p:blipFill>
          <a:blip r:embed="rId4"/>
          <a:stretch>
            <a:fillRect/>
          </a:stretch>
        </p:blipFill>
        <p:spPr>
          <a:xfrm>
            <a:off x="1190863" y="4427220"/>
            <a:ext cx="6321623" cy="2934295"/>
          </a:xfrm>
          <a:prstGeom prst="rect">
            <a:avLst/>
          </a:prstGeom>
        </p:spPr>
      </p:pic>
      <p:sp>
        <p:nvSpPr>
          <p:cNvPr id="5" name="Text 1"/>
          <p:cNvSpPr/>
          <p:nvPr/>
        </p:nvSpPr>
        <p:spPr>
          <a:xfrm>
            <a:off x="1190863" y="7483793"/>
            <a:ext cx="7840266" cy="200620"/>
          </a:xfrm>
          <a:prstGeom prst="rect">
            <a:avLst/>
          </a:prstGeom>
          <a:noFill/>
          <a:ln/>
        </p:spPr>
        <p:txBody>
          <a:bodyPr wrap="none" lIns="0" tIns="0" rIns="0" bIns="0" rtlCol="0" anchor="t"/>
          <a:lstStyle/>
          <a:p>
            <a:pPr marL="0" indent="0" algn="l">
              <a:lnSpc>
                <a:spcPts val="1550"/>
              </a:lnSpc>
              <a:buNone/>
            </a:pPr>
            <a:endParaRPr lang="en-US" sz="1100" dirty="0"/>
          </a:p>
        </p:txBody>
      </p:sp>
      <p:sp>
        <p:nvSpPr>
          <p:cNvPr id="6" name="Text 2"/>
          <p:cNvSpPr/>
          <p:nvPr/>
        </p:nvSpPr>
        <p:spPr>
          <a:xfrm>
            <a:off x="9385221" y="3049191"/>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787878"/>
                </a:solidFill>
                <a:latin typeface="Baskervville" pitchFamily="34" charset="0"/>
                <a:ea typeface="Baskervville" pitchFamily="34" charset="-122"/>
                <a:cs typeface="Baskervville" pitchFamily="34" charset="-120"/>
              </a:rPr>
              <a:t>Fonctions clés</a:t>
            </a:r>
            <a:endParaRPr lang="en-US" sz="2000" dirty="0"/>
          </a:p>
        </p:txBody>
      </p:sp>
      <p:sp>
        <p:nvSpPr>
          <p:cNvPr id="7" name="Text 3"/>
          <p:cNvSpPr/>
          <p:nvPr/>
        </p:nvSpPr>
        <p:spPr>
          <a:xfrm>
            <a:off x="9385221" y="3476744"/>
            <a:ext cx="4061817" cy="878443"/>
          </a:xfrm>
          <a:prstGeom prst="rect">
            <a:avLst/>
          </a:prstGeom>
          <a:noFill/>
          <a:ln/>
        </p:spPr>
        <p:txBody>
          <a:bodyPr wrap="square" lIns="0" tIns="0" rIns="0" bIns="0" rtlCol="0" anchor="t"/>
          <a:lstStyle/>
          <a:p>
            <a:pPr marL="342900" indent="-342900" algn="l">
              <a:lnSpc>
                <a:spcPts val="1550"/>
              </a:lnSpc>
              <a:buSzPct val="100000"/>
              <a:buChar char="•"/>
            </a:pPr>
            <a:r>
              <a:rPr lang="en-US" sz="1100" dirty="0">
                <a:solidFill>
                  <a:srgbClr val="6E6666"/>
                </a:solidFill>
                <a:latin typeface="Poppins" pitchFamily="34" charset="0"/>
                <a:ea typeface="Poppins" pitchFamily="34" charset="-122"/>
                <a:cs typeface="Poppins" pitchFamily="34" charset="-120"/>
              </a:rPr>
              <a:t>Visualisation temps réel (courbes, jauges, alertes).</a:t>
            </a:r>
            <a:endParaRPr lang="en-US" sz="1100" dirty="0"/>
          </a:p>
          <a:p>
            <a:pPr marL="342900" indent="-342900" algn="l">
              <a:lnSpc>
                <a:spcPts val="1550"/>
              </a:lnSpc>
              <a:buSzPct val="100000"/>
              <a:buChar char="•"/>
            </a:pPr>
            <a:r>
              <a:rPr lang="en-US" sz="1100" dirty="0">
                <a:solidFill>
                  <a:srgbClr val="6E6666"/>
                </a:solidFill>
                <a:latin typeface="Poppins" pitchFamily="34" charset="0"/>
                <a:ea typeface="Poppins" pitchFamily="34" charset="-122"/>
                <a:cs typeface="Poppins" pitchFamily="34" charset="-120"/>
              </a:rPr>
              <a:t>Traitement backend (Flask + SQLite) et API REST.</a:t>
            </a:r>
            <a:endParaRPr lang="en-US" sz="1100" dirty="0"/>
          </a:p>
          <a:p>
            <a:pPr marL="342900" indent="-342900" algn="l">
              <a:lnSpc>
                <a:spcPts val="1550"/>
              </a:lnSpc>
              <a:buSzPct val="100000"/>
              <a:buChar char="•"/>
            </a:pPr>
            <a:r>
              <a:rPr lang="en-US" sz="1100" dirty="0">
                <a:solidFill>
                  <a:srgbClr val="6E6666"/>
                </a:solidFill>
                <a:latin typeface="Poppins" pitchFamily="34" charset="0"/>
                <a:ea typeface="Poppins" pitchFamily="34" charset="-122"/>
                <a:cs typeface="Poppins" pitchFamily="34" charset="-120"/>
              </a:rPr>
              <a:t>Support à la décision : recommandations IA et interventions manuelles.</a:t>
            </a:r>
            <a:endParaRPr lang="en-US" sz="1100" dirty="0"/>
          </a:p>
        </p:txBody>
      </p:sp>
      <p:sp>
        <p:nvSpPr>
          <p:cNvPr id="8" name="Text 4"/>
          <p:cNvSpPr/>
          <p:nvPr/>
        </p:nvSpPr>
        <p:spPr>
          <a:xfrm>
            <a:off x="9385221" y="4463891"/>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787878"/>
                </a:solidFill>
                <a:latin typeface="Baskervville" pitchFamily="34" charset="0"/>
                <a:ea typeface="Baskervville" pitchFamily="34" charset="-122"/>
                <a:cs typeface="Baskervville" pitchFamily="34" charset="-120"/>
              </a:rPr>
              <a:t>Limites actuelles</a:t>
            </a:r>
            <a:endParaRPr lang="en-US" sz="2000" dirty="0"/>
          </a:p>
        </p:txBody>
      </p:sp>
      <p:sp>
        <p:nvSpPr>
          <p:cNvPr id="9" name="Text 5"/>
          <p:cNvSpPr/>
          <p:nvPr/>
        </p:nvSpPr>
        <p:spPr>
          <a:xfrm>
            <a:off x="9385221" y="4891445"/>
            <a:ext cx="4061817" cy="401241"/>
          </a:xfrm>
          <a:prstGeom prst="rect">
            <a:avLst/>
          </a:prstGeom>
          <a:noFill/>
          <a:ln/>
        </p:spPr>
        <p:txBody>
          <a:bodyPr wrap="square" lIns="0" tIns="0" rIns="0" bIns="0" rtlCol="0" anchor="t"/>
          <a:lstStyle/>
          <a:p>
            <a:pPr marL="0" indent="0" algn="l">
              <a:lnSpc>
                <a:spcPts val="1550"/>
              </a:lnSpc>
              <a:buNone/>
            </a:pPr>
            <a:r>
              <a:rPr lang="en-US" sz="1100" dirty="0">
                <a:solidFill>
                  <a:srgbClr val="6E6666"/>
                </a:solidFill>
                <a:latin typeface="Poppins" pitchFamily="34" charset="0"/>
                <a:ea typeface="Poppins" pitchFamily="34" charset="-122"/>
                <a:cs typeface="Poppins" pitchFamily="34" charset="-120"/>
              </a:rPr>
              <a:t>Pas d'authentification, dépendance réseau, scalabilité limitée (SQLite), pas encore déployé en cloud.</a:t>
            </a:r>
            <a:endParaRPr lang="en-US" sz="1100" dirty="0"/>
          </a:p>
        </p:txBody>
      </p:sp>
      <p:sp>
        <p:nvSpPr>
          <p:cNvPr id="10" name="Text 6"/>
          <p:cNvSpPr/>
          <p:nvPr/>
        </p:nvSpPr>
        <p:spPr>
          <a:xfrm>
            <a:off x="9385221" y="5390436"/>
            <a:ext cx="4061817" cy="601861"/>
          </a:xfrm>
          <a:prstGeom prst="rect">
            <a:avLst/>
          </a:prstGeom>
          <a:noFill/>
          <a:ln/>
        </p:spPr>
        <p:txBody>
          <a:bodyPr wrap="square" lIns="0" tIns="0" rIns="0" bIns="0" rtlCol="0" anchor="t"/>
          <a:lstStyle/>
          <a:p>
            <a:pPr marL="0" indent="0" algn="l">
              <a:lnSpc>
                <a:spcPts val="1550"/>
              </a:lnSpc>
              <a:buNone/>
            </a:pPr>
            <a:r>
              <a:rPr lang="en-US" sz="1100" dirty="0">
                <a:solidFill>
                  <a:srgbClr val="6E6666"/>
                </a:solidFill>
                <a:latin typeface="Poppins" pitchFamily="34" charset="0"/>
                <a:ea typeface="Poppins" pitchFamily="34" charset="-122"/>
                <a:cs typeface="Poppins" pitchFamily="34" charset="-120"/>
              </a:rPr>
              <a:t>Pistes d'amélioration : JWT, PostgreSQL distant, déploiement cloud, application mobile, intégration météo.</a:t>
            </a:r>
            <a:endParaRPr lang="en-US" sz="1100" dirty="0"/>
          </a:p>
        </p:txBody>
      </p:sp>
      <p:sp>
        <p:nvSpPr>
          <p:cNvPr id="11" name="Rectangle 10">
            <a:extLst>
              <a:ext uri="{FF2B5EF4-FFF2-40B4-BE49-F238E27FC236}">
                <a16:creationId xmlns:a16="http://schemas.microsoft.com/office/drawing/2014/main" id="{7B920BE0-8EEC-7301-F632-8FE16A88B5EE}"/>
              </a:ext>
            </a:extLst>
          </p:cNvPr>
          <p:cNvSpPr/>
          <p:nvPr/>
        </p:nvSpPr>
        <p:spPr>
          <a:xfrm>
            <a:off x="10214811" y="7615989"/>
            <a:ext cx="5790962" cy="806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9129" y="1082040"/>
            <a:ext cx="8702754"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Module IA — fonctionnement</a:t>
            </a:r>
            <a:endParaRPr lang="en-US" sz="5200" dirty="0"/>
          </a:p>
        </p:txBody>
      </p:sp>
      <p:pic>
        <p:nvPicPr>
          <p:cNvPr id="3" name="Image 0" descr="preencoded.png"/>
          <p:cNvPicPr>
            <a:picLocks noChangeAspect="1"/>
          </p:cNvPicPr>
          <p:nvPr/>
        </p:nvPicPr>
        <p:blipFill>
          <a:blip r:embed="rId3"/>
          <a:stretch>
            <a:fillRect/>
          </a:stretch>
        </p:blipFill>
        <p:spPr>
          <a:xfrm>
            <a:off x="3895249" y="2286119"/>
            <a:ext cx="6839783" cy="4059436"/>
          </a:xfrm>
          <a:prstGeom prst="rect">
            <a:avLst/>
          </a:prstGeom>
        </p:spPr>
      </p:pic>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74605" y="3278313"/>
            <a:ext cx="582265" cy="582266"/>
          </a:xfrm>
          <a:prstGeom prst="rect">
            <a:avLst/>
          </a:prstGeom>
        </p:spPr>
      </p:pic>
      <p:sp>
        <p:nvSpPr>
          <p:cNvPr id="5" name="Text 1"/>
          <p:cNvSpPr/>
          <p:nvPr/>
        </p:nvSpPr>
        <p:spPr>
          <a:xfrm>
            <a:off x="8655842" y="5096983"/>
            <a:ext cx="1700215" cy="941450"/>
          </a:xfrm>
          <a:prstGeom prst="rect">
            <a:avLst/>
          </a:prstGeom>
          <a:noFill/>
          <a:ln/>
        </p:spPr>
        <p:txBody>
          <a:bodyPr wrap="square" lIns="0" tIns="0" rIns="0" bIns="0" rtlCol="0" anchor="t"/>
          <a:lstStyle/>
          <a:p>
            <a:pPr marL="0" indent="0" algn="ctr">
              <a:lnSpc>
                <a:spcPts val="3700"/>
              </a:lnSpc>
              <a:buNone/>
            </a:pPr>
            <a:r>
              <a:rPr lang="en-US" sz="2950" dirty="0">
                <a:solidFill>
                  <a:srgbClr val="6E6666"/>
                </a:solidFill>
                <a:latin typeface="Baskervville" pitchFamily="34" charset="0"/>
                <a:ea typeface="Baskervville" pitchFamily="34" charset="-122"/>
                <a:cs typeface="Baskervville" pitchFamily="34" charset="-120"/>
              </a:rPr>
              <a:t>Irrigation Output</a:t>
            </a:r>
            <a:endParaRPr lang="en-US" sz="2950" dirty="0"/>
          </a:p>
        </p:txBody>
      </p:sp>
      <p:pic>
        <p:nvPicPr>
          <p:cNvPr id="6"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42966" y="3279404"/>
            <a:ext cx="582265" cy="582265"/>
          </a:xfrm>
          <a:prstGeom prst="rect">
            <a:avLst/>
          </a:prstGeom>
        </p:spPr>
      </p:pic>
      <p:sp>
        <p:nvSpPr>
          <p:cNvPr id="7" name="Text 2"/>
          <p:cNvSpPr/>
          <p:nvPr/>
        </p:nvSpPr>
        <p:spPr>
          <a:xfrm>
            <a:off x="6513105" y="5096983"/>
            <a:ext cx="1700215" cy="941450"/>
          </a:xfrm>
          <a:prstGeom prst="rect">
            <a:avLst/>
          </a:prstGeom>
          <a:noFill/>
          <a:ln/>
        </p:spPr>
        <p:txBody>
          <a:bodyPr wrap="square" lIns="0" tIns="0" rIns="0" bIns="0" rtlCol="0" anchor="t"/>
          <a:lstStyle/>
          <a:p>
            <a:pPr marL="0" indent="0" algn="ctr">
              <a:lnSpc>
                <a:spcPts val="3700"/>
              </a:lnSpc>
              <a:buNone/>
            </a:pPr>
            <a:r>
              <a:rPr lang="en-US" sz="2950" dirty="0">
                <a:solidFill>
                  <a:srgbClr val="6E6666"/>
                </a:solidFill>
                <a:latin typeface="Baskervville" pitchFamily="34" charset="0"/>
                <a:ea typeface="Baskervville" pitchFamily="34" charset="-122"/>
                <a:cs typeface="Baskervville" pitchFamily="34" charset="-120"/>
              </a:rPr>
              <a:t>Preprocess &amp; Model</a:t>
            </a:r>
            <a:endParaRPr lang="en-US" sz="2950" dirty="0"/>
          </a:p>
        </p:txBody>
      </p:sp>
      <p:pic>
        <p:nvPicPr>
          <p:cNvPr id="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0229" y="3279404"/>
            <a:ext cx="582265" cy="582265"/>
          </a:xfrm>
          <a:prstGeom prst="rect">
            <a:avLst/>
          </a:prstGeom>
        </p:spPr>
      </p:pic>
      <p:sp>
        <p:nvSpPr>
          <p:cNvPr id="9" name="Text 3"/>
          <p:cNvSpPr/>
          <p:nvPr/>
        </p:nvSpPr>
        <p:spPr>
          <a:xfrm>
            <a:off x="4335432" y="5096983"/>
            <a:ext cx="1700215" cy="941450"/>
          </a:xfrm>
          <a:prstGeom prst="rect">
            <a:avLst/>
          </a:prstGeom>
          <a:noFill/>
          <a:ln/>
        </p:spPr>
        <p:txBody>
          <a:bodyPr wrap="square" lIns="0" tIns="0" rIns="0" bIns="0" rtlCol="0" anchor="t"/>
          <a:lstStyle/>
          <a:p>
            <a:pPr marL="0" indent="0" algn="ctr">
              <a:lnSpc>
                <a:spcPts val="3700"/>
              </a:lnSpc>
              <a:buNone/>
            </a:pPr>
            <a:r>
              <a:rPr lang="en-US" sz="2950" dirty="0">
                <a:solidFill>
                  <a:srgbClr val="6E6666"/>
                </a:solidFill>
                <a:latin typeface="Baskervville" pitchFamily="34" charset="0"/>
                <a:ea typeface="Baskervville" pitchFamily="34" charset="-122"/>
                <a:cs typeface="Baskervville" pitchFamily="34" charset="-120"/>
              </a:rPr>
              <a:t>Collect Data</a:t>
            </a:r>
            <a:endParaRPr lang="en-US" sz="2950" dirty="0"/>
          </a:p>
        </p:txBody>
      </p:sp>
      <p:sp>
        <p:nvSpPr>
          <p:cNvPr id="10" name="Text 4"/>
          <p:cNvSpPr/>
          <p:nvPr/>
        </p:nvSpPr>
        <p:spPr>
          <a:xfrm>
            <a:off x="649129" y="6554153"/>
            <a:ext cx="13332143" cy="593408"/>
          </a:xfrm>
          <a:prstGeom prst="rect">
            <a:avLst/>
          </a:prstGeom>
          <a:noFill/>
          <a:ln/>
        </p:spPr>
        <p:txBody>
          <a:bodyPr wrap="square" lIns="0" tIns="0" rIns="0" bIns="0" rtlCol="0" anchor="t"/>
          <a:lstStyle/>
          <a:p>
            <a:pPr marL="0" indent="0" algn="l">
              <a:lnSpc>
                <a:spcPts val="2300"/>
              </a:lnSpc>
              <a:buNone/>
            </a:pPr>
            <a:r>
              <a:rPr lang="en-US" sz="1450" b="1" dirty="0">
                <a:solidFill>
                  <a:srgbClr val="1F7135"/>
                </a:solidFill>
                <a:latin typeface="Poppins" pitchFamily="34" charset="0"/>
                <a:ea typeface="Poppins" pitchFamily="34" charset="-122"/>
                <a:cs typeface="Poppins" pitchFamily="34" charset="-120"/>
              </a:rPr>
              <a:t>Flux :</a:t>
            </a:r>
            <a:r>
              <a:rPr lang="en-US" sz="1450" dirty="0">
                <a:solidFill>
                  <a:srgbClr val="5CC97B"/>
                </a:solidFill>
                <a:latin typeface="Poppins" pitchFamily="34" charset="0"/>
                <a:ea typeface="Poppins" pitchFamily="34" charset="-122"/>
                <a:cs typeface="Poppins" pitchFamily="34" charset="-120"/>
              </a:rPr>
              <a:t> </a:t>
            </a:r>
            <a:r>
              <a:rPr lang="en-US" sz="1450" b="1" dirty="0">
                <a:solidFill>
                  <a:srgbClr val="6E6666"/>
                </a:solidFill>
                <a:latin typeface="Poppins" pitchFamily="34" charset="0"/>
                <a:ea typeface="Poppins" pitchFamily="34" charset="-122"/>
                <a:cs typeface="Poppins" pitchFamily="34" charset="-120"/>
              </a:rPr>
              <a:t>données IoT → prétraitement (encodage, normalisation) → entraînement (données réelles/synthétiques) →      inférence en temps réel → enregistrement et affichage via API.</a:t>
            </a:r>
            <a:endParaRPr lang="en-US" sz="1450" dirty="0"/>
          </a:p>
        </p:txBody>
      </p:sp>
      <p:sp>
        <p:nvSpPr>
          <p:cNvPr id="11" name="Rectangle 10">
            <a:extLst>
              <a:ext uri="{FF2B5EF4-FFF2-40B4-BE49-F238E27FC236}">
                <a16:creationId xmlns:a16="http://schemas.microsoft.com/office/drawing/2014/main" id="{026D08BA-EF35-3729-CF7C-EBB0E484C999}"/>
              </a:ext>
            </a:extLst>
          </p:cNvPr>
          <p:cNvSpPr/>
          <p:nvPr/>
        </p:nvSpPr>
        <p:spPr>
          <a:xfrm>
            <a:off x="10214811" y="7615989"/>
            <a:ext cx="5790962" cy="806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9129" y="904637"/>
            <a:ext cx="7845743" cy="1666399"/>
          </a:xfrm>
          <a:prstGeom prst="rect">
            <a:avLst/>
          </a:prstGeom>
          <a:noFill/>
          <a:ln/>
        </p:spPr>
        <p:txBody>
          <a:bodyPr wrap="squar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Proposition de </a:t>
            </a:r>
            <a:r>
              <a:rPr lang="en-US" sz="5200" dirty="0" err="1">
                <a:solidFill>
                  <a:srgbClr val="787878"/>
                </a:solidFill>
                <a:latin typeface="Baskervville" pitchFamily="34" charset="0"/>
                <a:ea typeface="Baskervville" pitchFamily="34" charset="-122"/>
                <a:cs typeface="Baskervville" pitchFamily="34" charset="-120"/>
              </a:rPr>
              <a:t>valeur</a:t>
            </a:r>
            <a:r>
              <a:rPr lang="en-US" sz="5200" dirty="0">
                <a:solidFill>
                  <a:srgbClr val="787878"/>
                </a:solidFill>
                <a:latin typeface="Baskervville" pitchFamily="34" charset="0"/>
                <a:ea typeface="Baskervville" pitchFamily="34" charset="-122"/>
                <a:cs typeface="Baskervville" pitchFamily="34" charset="-120"/>
              </a:rPr>
              <a:t> &amp; impact</a:t>
            </a:r>
            <a:endParaRPr lang="en-US" sz="5200" dirty="0"/>
          </a:p>
        </p:txBody>
      </p:sp>
      <p:sp>
        <p:nvSpPr>
          <p:cNvPr id="4" name="Shape 1"/>
          <p:cNvSpPr/>
          <p:nvPr/>
        </p:nvSpPr>
        <p:spPr>
          <a:xfrm>
            <a:off x="649129" y="2849166"/>
            <a:ext cx="2491621" cy="2798445"/>
          </a:xfrm>
          <a:prstGeom prst="roundRect">
            <a:avLst>
              <a:gd name="adj" fmla="val 11167"/>
            </a:avLst>
          </a:prstGeom>
          <a:solidFill>
            <a:srgbClr val="ECDFE3"/>
          </a:solidFill>
          <a:ln/>
        </p:spPr>
      </p:sp>
      <p:sp>
        <p:nvSpPr>
          <p:cNvPr id="5" name="Text 2"/>
          <p:cNvSpPr/>
          <p:nvPr/>
        </p:nvSpPr>
        <p:spPr>
          <a:xfrm>
            <a:off x="834509" y="3034546"/>
            <a:ext cx="2120860" cy="832961"/>
          </a:xfrm>
          <a:prstGeom prst="rect">
            <a:avLst/>
          </a:prstGeom>
          <a:noFill/>
          <a:ln/>
        </p:spPr>
        <p:txBody>
          <a:bodyPr wrap="square" lIns="0" tIns="0" rIns="0" bIns="0" rtlCol="0" anchor="t"/>
          <a:lstStyle/>
          <a:p>
            <a:pPr marL="0" indent="0" algn="l">
              <a:lnSpc>
                <a:spcPts val="3250"/>
              </a:lnSpc>
              <a:buNone/>
            </a:pPr>
            <a:r>
              <a:rPr lang="en-US" sz="2600" dirty="0">
                <a:solidFill>
                  <a:srgbClr val="000000"/>
                </a:solidFill>
                <a:latin typeface="Baskervville" pitchFamily="34" charset="0"/>
                <a:ea typeface="Baskervville" pitchFamily="34" charset="-122"/>
                <a:cs typeface="Baskervville" pitchFamily="34" charset="-120"/>
              </a:rPr>
              <a:t>Environnement</a:t>
            </a:r>
            <a:endParaRPr lang="en-US" sz="2600" dirty="0"/>
          </a:p>
        </p:txBody>
      </p:sp>
      <p:sp>
        <p:nvSpPr>
          <p:cNvPr id="6" name="Text 3"/>
          <p:cNvSpPr/>
          <p:nvPr/>
        </p:nvSpPr>
        <p:spPr>
          <a:xfrm>
            <a:off x="834509" y="3978712"/>
            <a:ext cx="2120860" cy="1483519"/>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oppins" pitchFamily="34" charset="0"/>
                <a:ea typeface="Poppins" pitchFamily="34" charset="-122"/>
                <a:cs typeface="Poppins" pitchFamily="34" charset="-120"/>
              </a:rPr>
              <a:t>Réduction du gaspillage d'eau, préservation des nappes, alignement ODD6.</a:t>
            </a:r>
            <a:endParaRPr lang="en-US" sz="1450" dirty="0"/>
          </a:p>
        </p:txBody>
      </p:sp>
      <p:sp>
        <p:nvSpPr>
          <p:cNvPr id="7" name="Shape 4"/>
          <p:cNvSpPr/>
          <p:nvPr/>
        </p:nvSpPr>
        <p:spPr>
          <a:xfrm>
            <a:off x="3326130" y="2849166"/>
            <a:ext cx="2491621" cy="2798445"/>
          </a:xfrm>
          <a:prstGeom prst="roundRect">
            <a:avLst>
              <a:gd name="adj" fmla="val 11167"/>
            </a:avLst>
          </a:prstGeom>
          <a:solidFill>
            <a:srgbClr val="ECDFE3"/>
          </a:solidFill>
          <a:ln/>
        </p:spPr>
      </p:sp>
      <p:sp>
        <p:nvSpPr>
          <p:cNvPr id="8" name="Text 5"/>
          <p:cNvSpPr/>
          <p:nvPr/>
        </p:nvSpPr>
        <p:spPr>
          <a:xfrm>
            <a:off x="3511510" y="3034546"/>
            <a:ext cx="2120860" cy="416481"/>
          </a:xfrm>
          <a:prstGeom prst="rect">
            <a:avLst/>
          </a:prstGeom>
          <a:noFill/>
          <a:ln/>
        </p:spPr>
        <p:txBody>
          <a:bodyPr wrap="none" lIns="0" tIns="0" rIns="0" bIns="0" rtlCol="0" anchor="t"/>
          <a:lstStyle/>
          <a:p>
            <a:pPr marL="0" indent="0" algn="l">
              <a:lnSpc>
                <a:spcPts val="3250"/>
              </a:lnSpc>
              <a:buNone/>
            </a:pPr>
            <a:r>
              <a:rPr lang="en-US" sz="2600" dirty="0">
                <a:solidFill>
                  <a:srgbClr val="000000"/>
                </a:solidFill>
                <a:latin typeface="Baskervville" pitchFamily="34" charset="0"/>
                <a:ea typeface="Baskervville" pitchFamily="34" charset="-122"/>
                <a:cs typeface="Baskervville" pitchFamily="34" charset="-120"/>
              </a:rPr>
              <a:t>Économie</a:t>
            </a:r>
            <a:endParaRPr lang="en-US" sz="2600" dirty="0"/>
          </a:p>
        </p:txBody>
      </p:sp>
      <p:sp>
        <p:nvSpPr>
          <p:cNvPr id="9" name="Text 6"/>
          <p:cNvSpPr/>
          <p:nvPr/>
        </p:nvSpPr>
        <p:spPr>
          <a:xfrm>
            <a:off x="3511510" y="3562231"/>
            <a:ext cx="2120860" cy="1483519"/>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oppins" pitchFamily="34" charset="0"/>
                <a:ea typeface="Poppins" pitchFamily="34" charset="-122"/>
                <a:cs typeface="Poppins" pitchFamily="34" charset="-120"/>
              </a:rPr>
              <a:t>Baisse des coûts d'irrigation ; hausse de productivité ; solution abordable pour PME agricoles.</a:t>
            </a:r>
            <a:endParaRPr lang="en-US" sz="1450" dirty="0"/>
          </a:p>
        </p:txBody>
      </p:sp>
      <p:sp>
        <p:nvSpPr>
          <p:cNvPr id="10" name="Shape 7"/>
          <p:cNvSpPr/>
          <p:nvPr/>
        </p:nvSpPr>
        <p:spPr>
          <a:xfrm>
            <a:off x="6003131" y="2849166"/>
            <a:ext cx="2491740" cy="2798445"/>
          </a:xfrm>
          <a:prstGeom prst="roundRect">
            <a:avLst>
              <a:gd name="adj" fmla="val 11166"/>
            </a:avLst>
          </a:prstGeom>
          <a:solidFill>
            <a:srgbClr val="ECDFE3"/>
          </a:solidFill>
          <a:ln/>
        </p:spPr>
      </p:sp>
      <p:sp>
        <p:nvSpPr>
          <p:cNvPr id="11" name="Text 8"/>
          <p:cNvSpPr/>
          <p:nvPr/>
        </p:nvSpPr>
        <p:spPr>
          <a:xfrm>
            <a:off x="6188512" y="3034546"/>
            <a:ext cx="2120979" cy="416481"/>
          </a:xfrm>
          <a:prstGeom prst="rect">
            <a:avLst/>
          </a:prstGeom>
          <a:noFill/>
          <a:ln/>
        </p:spPr>
        <p:txBody>
          <a:bodyPr wrap="none" lIns="0" tIns="0" rIns="0" bIns="0" rtlCol="0" anchor="t"/>
          <a:lstStyle/>
          <a:p>
            <a:pPr marL="0" indent="0" algn="l">
              <a:lnSpc>
                <a:spcPts val="3250"/>
              </a:lnSpc>
              <a:buNone/>
            </a:pPr>
            <a:r>
              <a:rPr lang="en-US" sz="2600" dirty="0">
                <a:solidFill>
                  <a:srgbClr val="000000"/>
                </a:solidFill>
                <a:latin typeface="Baskervville" pitchFamily="34" charset="0"/>
                <a:ea typeface="Baskervville" pitchFamily="34" charset="-122"/>
                <a:cs typeface="Baskervville" pitchFamily="34" charset="-120"/>
              </a:rPr>
              <a:t>Social</a:t>
            </a:r>
            <a:endParaRPr lang="en-US" sz="2600" dirty="0"/>
          </a:p>
        </p:txBody>
      </p:sp>
      <p:sp>
        <p:nvSpPr>
          <p:cNvPr id="12" name="Text 9"/>
          <p:cNvSpPr/>
          <p:nvPr/>
        </p:nvSpPr>
        <p:spPr>
          <a:xfrm>
            <a:off x="6188512" y="3562231"/>
            <a:ext cx="2120979" cy="1483519"/>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oppins" pitchFamily="34" charset="0"/>
                <a:ea typeface="Poppins" pitchFamily="34" charset="-122"/>
                <a:cs typeface="Poppins" pitchFamily="34" charset="-120"/>
              </a:rPr>
              <a:t>Amélioration des conditions de travail, renforcement des coopératives, inclusion numérique rurale.</a:t>
            </a:r>
            <a:endParaRPr lang="en-US" sz="1450" dirty="0"/>
          </a:p>
        </p:txBody>
      </p:sp>
      <p:sp>
        <p:nvSpPr>
          <p:cNvPr id="13" name="Shape 10"/>
          <p:cNvSpPr/>
          <p:nvPr/>
        </p:nvSpPr>
        <p:spPr>
          <a:xfrm>
            <a:off x="649129" y="5832991"/>
            <a:ext cx="7845743" cy="1491853"/>
          </a:xfrm>
          <a:prstGeom prst="roundRect">
            <a:avLst>
              <a:gd name="adj" fmla="val 18650"/>
            </a:avLst>
          </a:prstGeom>
          <a:solidFill>
            <a:srgbClr val="ECDFE3"/>
          </a:solidFill>
          <a:ln/>
        </p:spPr>
      </p:sp>
      <p:sp>
        <p:nvSpPr>
          <p:cNvPr id="14" name="Text 11"/>
          <p:cNvSpPr/>
          <p:nvPr/>
        </p:nvSpPr>
        <p:spPr>
          <a:xfrm>
            <a:off x="834509" y="6018371"/>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000000"/>
                </a:solidFill>
                <a:latin typeface="Baskervville" pitchFamily="34" charset="0"/>
                <a:ea typeface="Baskervville" pitchFamily="34" charset="-122"/>
                <a:cs typeface="Baskervville" pitchFamily="34" charset="-120"/>
              </a:rPr>
              <a:t>Technologie</a:t>
            </a:r>
            <a:endParaRPr lang="en-US" sz="2600" dirty="0"/>
          </a:p>
        </p:txBody>
      </p:sp>
      <p:sp>
        <p:nvSpPr>
          <p:cNvPr id="15" name="Text 12"/>
          <p:cNvSpPr/>
          <p:nvPr/>
        </p:nvSpPr>
        <p:spPr>
          <a:xfrm>
            <a:off x="834509" y="6546056"/>
            <a:ext cx="7474982" cy="593408"/>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oppins" pitchFamily="34" charset="0"/>
                <a:ea typeface="Poppins" pitchFamily="34" charset="-122"/>
                <a:cs typeface="Poppins" pitchFamily="34" charset="-120"/>
              </a:rPr>
              <a:t>Capteurs IoT + ML pour décisions automatisées ; extensible (météo, mobile, irrigation automatique).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9129" y="2203133"/>
            <a:ext cx="6665952"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Analyse du marché</a:t>
            </a:r>
            <a:endParaRPr lang="en-US" sz="5200" dirty="0"/>
          </a:p>
        </p:txBody>
      </p:sp>
      <p:sp>
        <p:nvSpPr>
          <p:cNvPr id="4" name="Text 1"/>
          <p:cNvSpPr/>
          <p:nvPr/>
        </p:nvSpPr>
        <p:spPr>
          <a:xfrm>
            <a:off x="649129" y="3314462"/>
            <a:ext cx="7845743" cy="1186815"/>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Le secteur agricole marocain est un pilier économique, particulièrement dans des régions irriguées comme le Souss‑Massa. La raréfaction des ressources hydriques (sécheresses récurrentes, surexploitation des nappes) et la hausse du coût de l'eau exigent des solutions d'efficience.</a:t>
            </a:r>
            <a:endParaRPr lang="en-US" sz="1450" dirty="0"/>
          </a:p>
        </p:txBody>
      </p:sp>
      <p:sp>
        <p:nvSpPr>
          <p:cNvPr id="5" name="Text 2"/>
          <p:cNvSpPr/>
          <p:nvPr/>
        </p:nvSpPr>
        <p:spPr>
          <a:xfrm>
            <a:off x="649129" y="4709874"/>
            <a:ext cx="7845743" cy="1316593"/>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Pression croissante sur les nappes phréatiques et ressources de surface.</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Digitalisation mondiale de l’AgriTech : IoT, capteurs et IA comme leviers d’efficacité.</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Opportunité pour solutions locales adaptées au contexte marocain.</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9129" y="1760339"/>
            <a:ext cx="6665952"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Cible du projet</a:t>
            </a:r>
            <a:endParaRPr lang="en-US" sz="5200" dirty="0"/>
          </a:p>
        </p:txBody>
      </p:sp>
      <p:pic>
        <p:nvPicPr>
          <p:cNvPr id="3" name="Image 0" descr="preencoded.png"/>
          <p:cNvPicPr>
            <a:picLocks noChangeAspect="1"/>
          </p:cNvPicPr>
          <p:nvPr/>
        </p:nvPicPr>
        <p:blipFill>
          <a:blip r:embed="rId3"/>
          <a:stretch>
            <a:fillRect/>
          </a:stretch>
        </p:blipFill>
        <p:spPr>
          <a:xfrm>
            <a:off x="656749" y="3279338"/>
            <a:ext cx="5046107" cy="2782253"/>
          </a:xfrm>
          <a:prstGeom prst="rect">
            <a:avLst/>
          </a:prstGeom>
        </p:spPr>
      </p:pic>
      <p:sp>
        <p:nvSpPr>
          <p:cNvPr id="4" name="Text 1"/>
          <p:cNvSpPr/>
          <p:nvPr/>
        </p:nvSpPr>
        <p:spPr>
          <a:xfrm>
            <a:off x="6170533" y="3038594"/>
            <a:ext cx="7818239" cy="296704"/>
          </a:xfrm>
          <a:prstGeom prst="rect">
            <a:avLst/>
          </a:prstGeom>
          <a:noFill/>
          <a:ln/>
        </p:spPr>
        <p:txBody>
          <a:bodyPr wrap="non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Résultats du questionnaire (simulés) : profil des utilisateurs potentiels.</a:t>
            </a:r>
            <a:endParaRPr lang="en-US" sz="1450" dirty="0"/>
          </a:p>
        </p:txBody>
      </p:sp>
      <p:sp>
        <p:nvSpPr>
          <p:cNvPr id="5" name="Text 2"/>
          <p:cNvSpPr/>
          <p:nvPr/>
        </p:nvSpPr>
        <p:spPr>
          <a:xfrm>
            <a:off x="6170533" y="3502223"/>
            <a:ext cx="7818239" cy="2039779"/>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Agriculteurs : ~70% (cible principale — petits exploitants &amp; PME).</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Éleveurs : ~20% — usage secondaire pour pâturages irrigués.</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Exploitations mixtes : ~10%.</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Taille des parcelles : 55% &lt; 5 ha, 35% moyennes, 10% grandes &gt; 20 ha.</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Sources d'eau : puits/forages 65%, réseau 25%, autres 10% → forte dépendance aux nappes.</a:t>
            </a:r>
            <a:endParaRPr lang="en-US" sz="1450" dirty="0"/>
          </a:p>
        </p:txBody>
      </p:sp>
      <p:sp>
        <p:nvSpPr>
          <p:cNvPr id="6" name="Text 3"/>
          <p:cNvSpPr/>
          <p:nvPr/>
        </p:nvSpPr>
        <p:spPr>
          <a:xfrm>
            <a:off x="6170533" y="5708928"/>
            <a:ext cx="7818239" cy="593408"/>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Conclusion : priorité sur les petits et moyens exploitants et coopératives rurales pour l'adoption initiale.</a:t>
            </a:r>
            <a:endParaRPr lang="en-US" sz="1450" dirty="0"/>
          </a:p>
        </p:txBody>
      </p:sp>
      <p:sp>
        <p:nvSpPr>
          <p:cNvPr id="7" name="Rectangle 6">
            <a:extLst>
              <a:ext uri="{FF2B5EF4-FFF2-40B4-BE49-F238E27FC236}">
                <a16:creationId xmlns:a16="http://schemas.microsoft.com/office/drawing/2014/main" id="{36A275C9-DB58-691D-F910-A8C1F32B4A8F}"/>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5529" y="1409581"/>
            <a:ext cx="7845743" cy="1666399"/>
          </a:xfrm>
          <a:prstGeom prst="rect">
            <a:avLst/>
          </a:prstGeom>
          <a:noFill/>
          <a:ln/>
        </p:spPr>
        <p:txBody>
          <a:bodyPr wrap="squar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Problèmes prioritaires identifiés</a:t>
            </a:r>
            <a:endParaRPr lang="en-US" sz="5200" dirty="0"/>
          </a:p>
        </p:txBody>
      </p:sp>
      <p:sp>
        <p:nvSpPr>
          <p:cNvPr id="4" name="Shape 1"/>
          <p:cNvSpPr/>
          <p:nvPr/>
        </p:nvSpPr>
        <p:spPr>
          <a:xfrm>
            <a:off x="6135529" y="3354110"/>
            <a:ext cx="3830122" cy="1788557"/>
          </a:xfrm>
          <a:prstGeom prst="roundRect">
            <a:avLst>
              <a:gd name="adj" fmla="val 15556"/>
            </a:avLst>
          </a:prstGeom>
          <a:solidFill>
            <a:srgbClr val="ECDFE3"/>
          </a:solidFill>
          <a:ln/>
        </p:spPr>
      </p:sp>
      <p:sp>
        <p:nvSpPr>
          <p:cNvPr id="5" name="Text 2"/>
          <p:cNvSpPr/>
          <p:nvPr/>
        </p:nvSpPr>
        <p:spPr>
          <a:xfrm>
            <a:off x="6320909" y="3539490"/>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000000"/>
                </a:solidFill>
                <a:latin typeface="Baskervville" pitchFamily="34" charset="0"/>
                <a:ea typeface="Baskervville" pitchFamily="34" charset="-122"/>
                <a:cs typeface="Baskervville" pitchFamily="34" charset="-120"/>
              </a:rPr>
              <a:t>Disponibilité d'eau</a:t>
            </a:r>
            <a:endParaRPr lang="en-US" sz="2600" dirty="0"/>
          </a:p>
        </p:txBody>
      </p:sp>
      <p:sp>
        <p:nvSpPr>
          <p:cNvPr id="6" name="Text 3"/>
          <p:cNvSpPr/>
          <p:nvPr/>
        </p:nvSpPr>
        <p:spPr>
          <a:xfrm>
            <a:off x="6320909" y="4067175"/>
            <a:ext cx="3459361" cy="593408"/>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oppins" pitchFamily="34" charset="0"/>
                <a:ea typeface="Poppins" pitchFamily="34" charset="-122"/>
                <a:cs typeface="Poppins" pitchFamily="34" charset="-120"/>
              </a:rPr>
              <a:t>80% déclarent des problèmes liés à la disponibilité et au coût de l'eau.</a:t>
            </a:r>
            <a:endParaRPr lang="en-US" sz="1450" dirty="0"/>
          </a:p>
        </p:txBody>
      </p:sp>
      <p:sp>
        <p:nvSpPr>
          <p:cNvPr id="7" name="Shape 4"/>
          <p:cNvSpPr/>
          <p:nvPr/>
        </p:nvSpPr>
        <p:spPr>
          <a:xfrm>
            <a:off x="10151031" y="3354110"/>
            <a:ext cx="3830241" cy="1788557"/>
          </a:xfrm>
          <a:prstGeom prst="roundRect">
            <a:avLst>
              <a:gd name="adj" fmla="val 15556"/>
            </a:avLst>
          </a:prstGeom>
          <a:solidFill>
            <a:srgbClr val="ECDFE3"/>
          </a:solidFill>
          <a:ln/>
        </p:spPr>
      </p:sp>
      <p:sp>
        <p:nvSpPr>
          <p:cNvPr id="8" name="Text 5"/>
          <p:cNvSpPr/>
          <p:nvPr/>
        </p:nvSpPr>
        <p:spPr>
          <a:xfrm>
            <a:off x="10336411" y="3539490"/>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000000"/>
                </a:solidFill>
                <a:latin typeface="Baskervville" pitchFamily="34" charset="0"/>
                <a:ea typeface="Baskervville" pitchFamily="34" charset="-122"/>
                <a:cs typeface="Baskervville" pitchFamily="34" charset="-120"/>
              </a:rPr>
              <a:t>Méthodes d'irrigation</a:t>
            </a:r>
            <a:endParaRPr lang="en-US" sz="2600" dirty="0"/>
          </a:p>
        </p:txBody>
      </p:sp>
      <p:sp>
        <p:nvSpPr>
          <p:cNvPr id="9" name="Text 6"/>
          <p:cNvSpPr/>
          <p:nvPr/>
        </p:nvSpPr>
        <p:spPr>
          <a:xfrm>
            <a:off x="10336411" y="4067175"/>
            <a:ext cx="3459480" cy="890111"/>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oppins" pitchFamily="34" charset="0"/>
                <a:ea typeface="Poppins" pitchFamily="34" charset="-122"/>
                <a:cs typeface="Poppins" pitchFamily="34" charset="-120"/>
              </a:rPr>
              <a:t>60% utilisent des méthodes traditionnelles ; 40% ont du goutte‑à‑goutte.</a:t>
            </a:r>
            <a:endParaRPr lang="en-US" sz="1450" dirty="0"/>
          </a:p>
        </p:txBody>
      </p:sp>
      <p:sp>
        <p:nvSpPr>
          <p:cNvPr id="10" name="Shape 7"/>
          <p:cNvSpPr/>
          <p:nvPr/>
        </p:nvSpPr>
        <p:spPr>
          <a:xfrm>
            <a:off x="6135529" y="5328047"/>
            <a:ext cx="7845743" cy="1491853"/>
          </a:xfrm>
          <a:prstGeom prst="roundRect">
            <a:avLst>
              <a:gd name="adj" fmla="val 18650"/>
            </a:avLst>
          </a:prstGeom>
          <a:solidFill>
            <a:srgbClr val="ECDFE3"/>
          </a:solidFill>
          <a:ln/>
        </p:spPr>
      </p:sp>
      <p:sp>
        <p:nvSpPr>
          <p:cNvPr id="11" name="Text 8"/>
          <p:cNvSpPr/>
          <p:nvPr/>
        </p:nvSpPr>
        <p:spPr>
          <a:xfrm>
            <a:off x="6320909" y="5513427"/>
            <a:ext cx="3332917" cy="416481"/>
          </a:xfrm>
          <a:prstGeom prst="rect">
            <a:avLst/>
          </a:prstGeom>
          <a:noFill/>
          <a:ln/>
        </p:spPr>
        <p:txBody>
          <a:bodyPr wrap="none" lIns="0" tIns="0" rIns="0" bIns="0" rtlCol="0" anchor="t"/>
          <a:lstStyle/>
          <a:p>
            <a:pPr marL="0" indent="0" algn="l">
              <a:lnSpc>
                <a:spcPts val="3250"/>
              </a:lnSpc>
              <a:buNone/>
            </a:pPr>
            <a:r>
              <a:rPr lang="en-US" sz="2600" dirty="0">
                <a:solidFill>
                  <a:srgbClr val="000000"/>
                </a:solidFill>
                <a:latin typeface="Baskervville" pitchFamily="34" charset="0"/>
                <a:ea typeface="Baskervville" pitchFamily="34" charset="-122"/>
                <a:cs typeface="Baskervville" pitchFamily="34" charset="-120"/>
              </a:rPr>
              <a:t>Décision sans données</a:t>
            </a:r>
            <a:endParaRPr lang="en-US" sz="2600" dirty="0"/>
          </a:p>
        </p:txBody>
      </p:sp>
      <p:sp>
        <p:nvSpPr>
          <p:cNvPr id="12" name="Text 9"/>
          <p:cNvSpPr/>
          <p:nvPr/>
        </p:nvSpPr>
        <p:spPr>
          <a:xfrm>
            <a:off x="6320909" y="6041112"/>
            <a:ext cx="7474982" cy="593408"/>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Poppins" pitchFamily="34" charset="0"/>
                <a:ea typeface="Poppins" pitchFamily="34" charset="-122"/>
                <a:cs typeface="Poppins" pitchFamily="34" charset="-120"/>
              </a:rPr>
              <a:t>70% estiment la quantité d'eau par expérience; seulement 15% utilisent des données objectives.</a:t>
            </a:r>
            <a:endParaRPr lang="en-US" sz="1450" dirty="0"/>
          </a:p>
        </p:txBody>
      </p:sp>
      <p:sp>
        <p:nvSpPr>
          <p:cNvPr id="13" name="Rectangle 12">
            <a:extLst>
              <a:ext uri="{FF2B5EF4-FFF2-40B4-BE49-F238E27FC236}">
                <a16:creationId xmlns:a16="http://schemas.microsoft.com/office/drawing/2014/main" id="{ED0361B2-57D0-3BE8-EA3F-DE1A68CF34AF}"/>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9129" y="1934885"/>
            <a:ext cx="7845743" cy="1666399"/>
          </a:xfrm>
          <a:prstGeom prst="rect">
            <a:avLst/>
          </a:prstGeom>
          <a:noFill/>
          <a:ln/>
        </p:spPr>
        <p:txBody>
          <a:bodyPr wrap="squar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Proposition de valeur d'AquaSmart</a:t>
            </a:r>
            <a:endParaRPr lang="en-US" sz="5200" dirty="0"/>
          </a:p>
        </p:txBody>
      </p:sp>
      <p:sp>
        <p:nvSpPr>
          <p:cNvPr id="4" name="Text 1"/>
          <p:cNvSpPr/>
          <p:nvPr/>
        </p:nvSpPr>
        <p:spPr>
          <a:xfrm>
            <a:off x="649129" y="3879413"/>
            <a:ext cx="7845743" cy="890111"/>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AquaSmart fournit une solution locale combinant capteurs IoT, analyses IA et interface simple : recommandations d'irrigation basées sur données, rapports de consommation et alertes. Valeur-clés :</a:t>
            </a:r>
            <a:endParaRPr lang="en-US" sz="1450" dirty="0"/>
          </a:p>
        </p:txBody>
      </p:sp>
      <p:sp>
        <p:nvSpPr>
          <p:cNvPr id="5" name="Text 2"/>
          <p:cNvSpPr/>
          <p:nvPr/>
        </p:nvSpPr>
        <p:spPr>
          <a:xfrm>
            <a:off x="649129" y="4978122"/>
            <a:ext cx="7845743" cy="1316593"/>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Adaptée au contexte marocain : matériel robuste, déploiement simplifié.</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Accessible financièrement : coût réduit comparé aux solutions importées.</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Actionnable : transforme mesures en recommandations pratiques pour optimiser l'eau et réduire coûts.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9129" y="1676876"/>
            <a:ext cx="7670244"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Analyse de la concurrence</a:t>
            </a:r>
            <a:endParaRPr lang="en-US" sz="5200" dirty="0"/>
          </a:p>
        </p:txBody>
      </p:sp>
      <p:pic>
        <p:nvPicPr>
          <p:cNvPr id="3" name="Image 0" descr="preencoded.png"/>
          <p:cNvPicPr>
            <a:picLocks noChangeAspect="1"/>
          </p:cNvPicPr>
          <p:nvPr/>
        </p:nvPicPr>
        <p:blipFill>
          <a:blip r:embed="rId3"/>
          <a:stretch>
            <a:fillRect/>
          </a:stretch>
        </p:blipFill>
        <p:spPr>
          <a:xfrm>
            <a:off x="656749" y="3279338"/>
            <a:ext cx="8492252" cy="2782253"/>
          </a:xfrm>
          <a:prstGeom prst="rect">
            <a:avLst/>
          </a:prstGeom>
        </p:spPr>
      </p:pic>
      <p:sp>
        <p:nvSpPr>
          <p:cNvPr id="4" name="Text 1"/>
          <p:cNvSpPr/>
          <p:nvPr/>
        </p:nvSpPr>
        <p:spPr>
          <a:xfrm>
            <a:off x="9616678" y="2955131"/>
            <a:ext cx="4372094" cy="296704"/>
          </a:xfrm>
          <a:prstGeom prst="rect">
            <a:avLst/>
          </a:prstGeom>
          <a:noFill/>
          <a:ln/>
        </p:spPr>
        <p:txBody>
          <a:bodyPr wrap="non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Panorama concurrentiel</a:t>
            </a:r>
            <a:endParaRPr lang="en-US" sz="1450" dirty="0"/>
          </a:p>
        </p:txBody>
      </p:sp>
      <p:sp>
        <p:nvSpPr>
          <p:cNvPr id="5" name="Text 2"/>
          <p:cNvSpPr/>
          <p:nvPr/>
        </p:nvSpPr>
        <p:spPr>
          <a:xfrm>
            <a:off x="9616678" y="3418761"/>
            <a:ext cx="4372094" cy="1910001"/>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Solutions traditionnelles : faible précision, gaspillage d'eau.</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Solutions importées : fonctionnalités avancées mais coûteuses et complexes.</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AquaSmart : avantage compétitif = localisation, simplicité et coût réduit.</a:t>
            </a:r>
            <a:endParaRPr lang="en-US" sz="1450" dirty="0"/>
          </a:p>
        </p:txBody>
      </p:sp>
      <p:sp>
        <p:nvSpPr>
          <p:cNvPr id="6" name="Text 3"/>
          <p:cNvSpPr/>
          <p:nvPr/>
        </p:nvSpPr>
        <p:spPr>
          <a:xfrm>
            <a:off x="9616678" y="5495687"/>
            <a:ext cx="4372094" cy="890111"/>
          </a:xfrm>
          <a:prstGeom prst="rect">
            <a:avLst/>
          </a:prstGeom>
          <a:noFill/>
          <a:ln/>
        </p:spPr>
        <p:txBody>
          <a:bodyPr wrap="square" lIns="0" tIns="0" rIns="0" bIns="0" rtlCol="0" anchor="t"/>
          <a:lstStyle/>
          <a:p>
            <a:pPr marL="0" indent="0" algn="l">
              <a:lnSpc>
                <a:spcPts val="2300"/>
              </a:lnSpc>
              <a:buNone/>
            </a:pPr>
            <a:r>
              <a:rPr lang="en-US" sz="1450" dirty="0">
                <a:solidFill>
                  <a:srgbClr val="6E6666"/>
                </a:solidFill>
                <a:latin typeface="Poppins" pitchFamily="34" charset="0"/>
                <a:ea typeface="Poppins" pitchFamily="34" charset="-122"/>
                <a:cs typeface="Poppins" pitchFamily="34" charset="-120"/>
              </a:rPr>
              <a:t>Positionnement stratégique : proposer une alternative pratique et scalable pour petites exploitations.</a:t>
            </a:r>
            <a:endParaRPr lang="en-US" sz="1450" dirty="0"/>
          </a:p>
        </p:txBody>
      </p:sp>
      <p:sp>
        <p:nvSpPr>
          <p:cNvPr id="7" name="Rectangle 6">
            <a:extLst>
              <a:ext uri="{FF2B5EF4-FFF2-40B4-BE49-F238E27FC236}">
                <a16:creationId xmlns:a16="http://schemas.microsoft.com/office/drawing/2014/main" id="{495078CB-9A0B-F659-BDAB-62026518C521}"/>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98408" y="513278"/>
            <a:ext cx="7947184" cy="1536144"/>
          </a:xfrm>
          <a:prstGeom prst="rect">
            <a:avLst/>
          </a:prstGeom>
          <a:noFill/>
          <a:ln/>
        </p:spPr>
        <p:txBody>
          <a:bodyPr wrap="square" lIns="0" tIns="0" rIns="0" bIns="0" rtlCol="0" anchor="t"/>
          <a:lstStyle/>
          <a:p>
            <a:pPr marL="0" indent="0" algn="l">
              <a:lnSpc>
                <a:spcPts val="6000"/>
              </a:lnSpc>
              <a:buNone/>
            </a:pPr>
            <a:r>
              <a:rPr lang="en-US" sz="4800" dirty="0">
                <a:solidFill>
                  <a:srgbClr val="787878"/>
                </a:solidFill>
                <a:latin typeface="Baskervville" pitchFamily="34" charset="0"/>
                <a:ea typeface="Baskervville" pitchFamily="34" charset="-122"/>
                <a:cs typeface="Baskervville" pitchFamily="34" charset="-120"/>
              </a:rPr>
              <a:t>Modèle économique recommandé</a:t>
            </a:r>
            <a:endParaRPr lang="en-US" sz="480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8408" y="2285762"/>
            <a:ext cx="427434" cy="427434"/>
          </a:xfrm>
          <a:prstGeom prst="rect">
            <a:avLst/>
          </a:prstGeom>
        </p:spPr>
      </p:pic>
      <p:sp>
        <p:nvSpPr>
          <p:cNvPr id="5" name="Text 1"/>
          <p:cNvSpPr/>
          <p:nvPr/>
        </p:nvSpPr>
        <p:spPr>
          <a:xfrm>
            <a:off x="598408" y="2910126"/>
            <a:ext cx="3072527" cy="384096"/>
          </a:xfrm>
          <a:prstGeom prst="rect">
            <a:avLst/>
          </a:prstGeom>
          <a:noFill/>
          <a:ln/>
        </p:spPr>
        <p:txBody>
          <a:bodyPr wrap="none" lIns="0" tIns="0" rIns="0" bIns="0" rtlCol="0" anchor="t"/>
          <a:lstStyle/>
          <a:p>
            <a:pPr marL="0" indent="0" algn="l">
              <a:lnSpc>
                <a:spcPts val="3000"/>
              </a:lnSpc>
              <a:buNone/>
            </a:pPr>
            <a:r>
              <a:rPr lang="en-US" sz="2400" dirty="0">
                <a:solidFill>
                  <a:srgbClr val="6E6666"/>
                </a:solidFill>
                <a:latin typeface="Baskervville" pitchFamily="34" charset="0"/>
                <a:ea typeface="Baskervville" pitchFamily="34" charset="-122"/>
                <a:cs typeface="Baskervville" pitchFamily="34" charset="-120"/>
              </a:rPr>
              <a:t>Vente de kits IoT</a:t>
            </a:r>
            <a:endParaRPr lang="en-US" sz="2400" dirty="0"/>
          </a:p>
        </p:txBody>
      </p:sp>
      <p:sp>
        <p:nvSpPr>
          <p:cNvPr id="6" name="Text 2"/>
          <p:cNvSpPr/>
          <p:nvPr/>
        </p:nvSpPr>
        <p:spPr>
          <a:xfrm>
            <a:off x="598408" y="3388757"/>
            <a:ext cx="7947184" cy="262771"/>
          </a:xfrm>
          <a:prstGeom prst="rect">
            <a:avLst/>
          </a:prstGeom>
          <a:noFill/>
          <a:ln/>
        </p:spPr>
        <p:txBody>
          <a:bodyPr wrap="none" lIns="0" tIns="0" rIns="0" bIns="0" rtlCol="0" anchor="t"/>
          <a:lstStyle/>
          <a:p>
            <a:pPr marL="0" indent="0" algn="l">
              <a:lnSpc>
                <a:spcPts val="2050"/>
              </a:lnSpc>
              <a:buNone/>
            </a:pPr>
            <a:r>
              <a:rPr lang="en-US" sz="1300" dirty="0">
                <a:solidFill>
                  <a:srgbClr val="6E6666"/>
                </a:solidFill>
                <a:latin typeface="Poppins" pitchFamily="34" charset="0"/>
                <a:ea typeface="Poppins" pitchFamily="34" charset="-122"/>
                <a:cs typeface="Poppins" pitchFamily="34" charset="-120"/>
              </a:rPr>
              <a:t>Kits comprenant capteurs, ESP32, panneaux d'installation et mise en service.</a:t>
            </a:r>
            <a:endParaRPr lang="en-US" sz="13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8408" y="3966686"/>
            <a:ext cx="427434" cy="427434"/>
          </a:xfrm>
          <a:prstGeom prst="rect">
            <a:avLst/>
          </a:prstGeom>
        </p:spPr>
      </p:pic>
      <p:sp>
        <p:nvSpPr>
          <p:cNvPr id="8" name="Text 3"/>
          <p:cNvSpPr/>
          <p:nvPr/>
        </p:nvSpPr>
        <p:spPr>
          <a:xfrm>
            <a:off x="598408" y="4591050"/>
            <a:ext cx="3072527" cy="384096"/>
          </a:xfrm>
          <a:prstGeom prst="rect">
            <a:avLst/>
          </a:prstGeom>
          <a:noFill/>
          <a:ln/>
        </p:spPr>
        <p:txBody>
          <a:bodyPr wrap="none" lIns="0" tIns="0" rIns="0" bIns="0" rtlCol="0" anchor="t"/>
          <a:lstStyle/>
          <a:p>
            <a:pPr marL="0" indent="0" algn="l">
              <a:lnSpc>
                <a:spcPts val="3000"/>
              </a:lnSpc>
              <a:buNone/>
            </a:pPr>
            <a:r>
              <a:rPr lang="en-US" sz="2400" dirty="0">
                <a:solidFill>
                  <a:srgbClr val="6E6666"/>
                </a:solidFill>
                <a:latin typeface="Baskervville" pitchFamily="34" charset="0"/>
                <a:ea typeface="Baskervville" pitchFamily="34" charset="-122"/>
                <a:cs typeface="Baskervville" pitchFamily="34" charset="-120"/>
              </a:rPr>
              <a:t>Abonnement SaaS</a:t>
            </a:r>
            <a:endParaRPr lang="en-US" sz="2400" dirty="0"/>
          </a:p>
        </p:txBody>
      </p:sp>
      <p:sp>
        <p:nvSpPr>
          <p:cNvPr id="9" name="Text 4"/>
          <p:cNvSpPr/>
          <p:nvPr/>
        </p:nvSpPr>
        <p:spPr>
          <a:xfrm>
            <a:off x="598408" y="5069681"/>
            <a:ext cx="7947184" cy="262771"/>
          </a:xfrm>
          <a:prstGeom prst="rect">
            <a:avLst/>
          </a:prstGeom>
          <a:noFill/>
          <a:ln/>
        </p:spPr>
        <p:txBody>
          <a:bodyPr wrap="none" lIns="0" tIns="0" rIns="0" bIns="0" rtlCol="0" anchor="t"/>
          <a:lstStyle/>
          <a:p>
            <a:pPr marL="0" indent="0" algn="l">
              <a:lnSpc>
                <a:spcPts val="2050"/>
              </a:lnSpc>
              <a:buNone/>
            </a:pPr>
            <a:r>
              <a:rPr lang="en-US" sz="1300" dirty="0">
                <a:solidFill>
                  <a:srgbClr val="6E6666"/>
                </a:solidFill>
                <a:latin typeface="Poppins" pitchFamily="34" charset="0"/>
                <a:ea typeface="Poppins" pitchFamily="34" charset="-122"/>
                <a:cs typeface="Poppins" pitchFamily="34" charset="-120"/>
              </a:rPr>
              <a:t>Accès plateforme, monitoring, recommandations IA et rapports analytiques.</a:t>
            </a:r>
            <a:endParaRPr lang="en-US" sz="13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8408" y="5647611"/>
            <a:ext cx="427434" cy="427434"/>
          </a:xfrm>
          <a:prstGeom prst="rect">
            <a:avLst/>
          </a:prstGeom>
        </p:spPr>
      </p:pic>
      <p:sp>
        <p:nvSpPr>
          <p:cNvPr id="11" name="Text 5"/>
          <p:cNvSpPr/>
          <p:nvPr/>
        </p:nvSpPr>
        <p:spPr>
          <a:xfrm>
            <a:off x="598408" y="6271974"/>
            <a:ext cx="4171831" cy="384096"/>
          </a:xfrm>
          <a:prstGeom prst="rect">
            <a:avLst/>
          </a:prstGeom>
          <a:noFill/>
          <a:ln/>
        </p:spPr>
        <p:txBody>
          <a:bodyPr wrap="none" lIns="0" tIns="0" rIns="0" bIns="0" rtlCol="0" anchor="t"/>
          <a:lstStyle/>
          <a:p>
            <a:pPr marL="0" indent="0" algn="l">
              <a:lnSpc>
                <a:spcPts val="3000"/>
              </a:lnSpc>
              <a:buNone/>
            </a:pPr>
            <a:r>
              <a:rPr lang="en-US" sz="2400" dirty="0">
                <a:solidFill>
                  <a:srgbClr val="6E6666"/>
                </a:solidFill>
                <a:latin typeface="Baskervville" pitchFamily="34" charset="0"/>
                <a:ea typeface="Baskervville" pitchFamily="34" charset="-122"/>
                <a:cs typeface="Baskervville" pitchFamily="34" charset="-120"/>
              </a:rPr>
              <a:t>Modèle hybride (recommandé)</a:t>
            </a:r>
            <a:endParaRPr lang="en-US" sz="2400" dirty="0"/>
          </a:p>
        </p:txBody>
      </p:sp>
      <p:sp>
        <p:nvSpPr>
          <p:cNvPr id="12" name="Text 6"/>
          <p:cNvSpPr/>
          <p:nvPr/>
        </p:nvSpPr>
        <p:spPr>
          <a:xfrm>
            <a:off x="598408" y="6750606"/>
            <a:ext cx="7947184" cy="262771"/>
          </a:xfrm>
          <a:prstGeom prst="rect">
            <a:avLst/>
          </a:prstGeom>
          <a:noFill/>
          <a:ln/>
        </p:spPr>
        <p:txBody>
          <a:bodyPr wrap="none" lIns="0" tIns="0" rIns="0" bIns="0" rtlCol="0" anchor="t"/>
          <a:lstStyle/>
          <a:p>
            <a:pPr marL="0" indent="0" algn="l">
              <a:lnSpc>
                <a:spcPts val="2050"/>
              </a:lnSpc>
              <a:buNone/>
            </a:pPr>
            <a:r>
              <a:rPr lang="en-US" sz="1300" dirty="0">
                <a:solidFill>
                  <a:srgbClr val="6E6666"/>
                </a:solidFill>
                <a:latin typeface="Poppins" pitchFamily="34" charset="0"/>
                <a:ea typeface="Poppins" pitchFamily="34" charset="-122"/>
                <a:cs typeface="Poppins" pitchFamily="34" charset="-120"/>
              </a:rPr>
              <a:t>Vente du matériel + abonnement récurrent → équilibre CAPEX/OPEX, meilleure rétention.</a:t>
            </a:r>
            <a:endParaRPr lang="en-US" sz="1300" dirty="0"/>
          </a:p>
        </p:txBody>
      </p:sp>
      <p:sp>
        <p:nvSpPr>
          <p:cNvPr id="13" name="Text 7"/>
          <p:cNvSpPr/>
          <p:nvPr/>
        </p:nvSpPr>
        <p:spPr>
          <a:xfrm>
            <a:off x="598408" y="7190661"/>
            <a:ext cx="7947184" cy="525542"/>
          </a:xfrm>
          <a:prstGeom prst="rect">
            <a:avLst/>
          </a:prstGeom>
          <a:noFill/>
          <a:ln/>
        </p:spPr>
        <p:txBody>
          <a:bodyPr wrap="square" lIns="0" tIns="0" rIns="0" bIns="0" rtlCol="0" anchor="t"/>
          <a:lstStyle/>
          <a:p>
            <a:pPr marL="0" indent="0" algn="l">
              <a:lnSpc>
                <a:spcPts val="2050"/>
              </a:lnSpc>
              <a:buNone/>
            </a:pPr>
            <a:r>
              <a:rPr lang="en-US" sz="1300" dirty="0">
                <a:solidFill>
                  <a:srgbClr val="6E6666"/>
                </a:solidFill>
                <a:latin typeface="Poppins" pitchFamily="34" charset="0"/>
                <a:ea typeface="Poppins" pitchFamily="34" charset="-122"/>
                <a:cs typeface="Poppins" pitchFamily="34" charset="-120"/>
              </a:rPr>
              <a:t>Tarification projetée (simulée) : 45% prêts à payer 50–100 MAD/mois, 30% &lt;50 MAD, 25% &gt;100 MAD si ROI démontré.</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35529" y="2779990"/>
            <a:ext cx="3501271" cy="416481"/>
          </a:xfrm>
          <a:prstGeom prst="rect">
            <a:avLst/>
          </a:prstGeom>
          <a:noFill/>
          <a:ln/>
        </p:spPr>
        <p:txBody>
          <a:bodyPr wrap="none" lIns="0" tIns="0" rIns="0" bIns="0" rtlCol="0" anchor="t"/>
          <a:lstStyle/>
          <a:p>
            <a:pPr marL="0" indent="0" algn="l">
              <a:lnSpc>
                <a:spcPts val="3250"/>
              </a:lnSpc>
              <a:buNone/>
            </a:pPr>
            <a:r>
              <a:rPr lang="en-US" sz="2600" dirty="0">
                <a:solidFill>
                  <a:srgbClr val="787878"/>
                </a:solidFill>
                <a:latin typeface="Baskervville" pitchFamily="34" charset="0"/>
                <a:ea typeface="Baskervville" pitchFamily="34" charset="-122"/>
                <a:cs typeface="Baskervville" pitchFamily="34" charset="-120"/>
              </a:rPr>
              <a:t>Opportunité du Marché</a:t>
            </a:r>
            <a:endParaRPr lang="en-US" sz="2600" dirty="0"/>
          </a:p>
        </p:txBody>
      </p:sp>
      <p:sp>
        <p:nvSpPr>
          <p:cNvPr id="4" name="Text 1"/>
          <p:cNvSpPr/>
          <p:nvPr/>
        </p:nvSpPr>
        <p:spPr>
          <a:xfrm>
            <a:off x="6135529" y="3474601"/>
            <a:ext cx="7845743" cy="197489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Croissance mondiale de l'AgriTech : facilitation de partenariats et financement.</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Soutien public (Génération Green) : subventions et programmes d'adoption technologique.</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Besoin urgent d'optimisation de l'eau dans régions arides → fort marché addressable.</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Coopératives &amp; ONGs comme canaux de distribution et formation.</a:t>
            </a:r>
            <a:endParaRPr lang="en-US" sz="1450" dirty="0"/>
          </a:p>
        </p:txBody>
      </p:sp>
      <p:sp>
        <p:nvSpPr>
          <p:cNvPr id="5" name="Rectangle 4">
            <a:extLst>
              <a:ext uri="{FF2B5EF4-FFF2-40B4-BE49-F238E27FC236}">
                <a16:creationId xmlns:a16="http://schemas.microsoft.com/office/drawing/2014/main" id="{F2A800B8-52DA-CD75-40D5-1780CB6108DE}"/>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9129" y="772835"/>
            <a:ext cx="9511903" cy="833199"/>
          </a:xfrm>
          <a:prstGeom prst="rect">
            <a:avLst/>
          </a:prstGeom>
          <a:noFill/>
          <a:ln/>
        </p:spPr>
        <p:txBody>
          <a:bodyPr wrap="none" lIns="0" tIns="0" rIns="0" bIns="0" rtlCol="0" anchor="t"/>
          <a:lstStyle/>
          <a:p>
            <a:pPr marL="0" indent="0" algn="l">
              <a:lnSpc>
                <a:spcPts val="6550"/>
              </a:lnSpc>
              <a:buNone/>
            </a:pPr>
            <a:r>
              <a:rPr lang="en-US" sz="5200" dirty="0">
                <a:solidFill>
                  <a:srgbClr val="787878"/>
                </a:solidFill>
                <a:latin typeface="Baskervville" pitchFamily="34" charset="0"/>
                <a:ea typeface="Baskervville" pitchFamily="34" charset="-122"/>
                <a:cs typeface="Baskervville" pitchFamily="34" charset="-120"/>
              </a:rPr>
              <a:t>Risques et mesures d'atténuation</a:t>
            </a:r>
            <a:endParaRPr lang="en-US" sz="5200" dirty="0"/>
          </a:p>
        </p:txBody>
      </p:sp>
      <p:pic>
        <p:nvPicPr>
          <p:cNvPr id="3" name="Image 0" descr="preencoded.png"/>
          <p:cNvPicPr>
            <a:picLocks noChangeAspect="1"/>
          </p:cNvPicPr>
          <p:nvPr/>
        </p:nvPicPr>
        <p:blipFill>
          <a:blip r:embed="rId3"/>
          <a:stretch>
            <a:fillRect/>
          </a:stretch>
        </p:blipFill>
        <p:spPr>
          <a:xfrm>
            <a:off x="656749" y="3279219"/>
            <a:ext cx="6424612" cy="2782253"/>
          </a:xfrm>
          <a:prstGeom prst="rect">
            <a:avLst/>
          </a:prstGeom>
        </p:spPr>
      </p:pic>
      <p:sp>
        <p:nvSpPr>
          <p:cNvPr id="4" name="Text 1"/>
          <p:cNvSpPr/>
          <p:nvPr/>
        </p:nvSpPr>
        <p:spPr>
          <a:xfrm>
            <a:off x="7549039" y="2051090"/>
            <a:ext cx="6439853" cy="296704"/>
          </a:xfrm>
          <a:prstGeom prst="rect">
            <a:avLst/>
          </a:prstGeom>
          <a:noFill/>
          <a:ln/>
        </p:spPr>
        <p:txBody>
          <a:bodyPr wrap="none" lIns="0" tIns="0" rIns="0" bIns="0" rtlCol="0" anchor="t"/>
          <a:lstStyle/>
          <a:p>
            <a:pPr marL="0" indent="0" algn="l">
              <a:lnSpc>
                <a:spcPts val="2300"/>
              </a:lnSpc>
              <a:buNone/>
            </a:pPr>
            <a:r>
              <a:rPr lang="en-US" sz="1450" b="1" dirty="0">
                <a:solidFill>
                  <a:srgbClr val="6E6666"/>
                </a:solidFill>
                <a:latin typeface="Poppins" pitchFamily="34" charset="0"/>
                <a:ea typeface="Poppins" pitchFamily="34" charset="-122"/>
                <a:cs typeface="Poppins" pitchFamily="34" charset="-120"/>
              </a:rPr>
              <a:t>Risques principaux</a:t>
            </a:r>
            <a:endParaRPr lang="en-US" sz="1450" dirty="0"/>
          </a:p>
        </p:txBody>
      </p:sp>
      <p:sp>
        <p:nvSpPr>
          <p:cNvPr id="5" name="Text 2"/>
          <p:cNvSpPr/>
          <p:nvPr/>
        </p:nvSpPr>
        <p:spPr>
          <a:xfrm>
            <a:off x="7549039" y="2514719"/>
            <a:ext cx="6439853" cy="197489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Adoption lente par agriculteurs non familiarisés aux outils numériques.</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Contraintes financières pour investissement initial.</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Couverture internet limitée en zones rurales.</a:t>
            </a:r>
            <a:endParaRPr lang="en-US" sz="1450" dirty="0"/>
          </a:p>
          <a:p>
            <a:pPr marL="342900" indent="-342900" algn="l">
              <a:lnSpc>
                <a:spcPts val="2300"/>
              </a:lnSpc>
              <a:buSzPct val="100000"/>
              <a:buChar char="•"/>
            </a:pPr>
            <a:r>
              <a:rPr lang="en-US" sz="1450" dirty="0">
                <a:solidFill>
                  <a:srgbClr val="6E6666"/>
                </a:solidFill>
                <a:latin typeface="Poppins" pitchFamily="34" charset="0"/>
                <a:ea typeface="Poppins" pitchFamily="34" charset="-122"/>
                <a:cs typeface="Poppins" pitchFamily="34" charset="-120"/>
              </a:rPr>
              <a:t>Dépendance aux données simulées / besoin de validations terrain.</a:t>
            </a:r>
            <a:endParaRPr lang="en-US" sz="1450" dirty="0"/>
          </a:p>
        </p:txBody>
      </p:sp>
      <p:sp>
        <p:nvSpPr>
          <p:cNvPr id="6" name="Text 3"/>
          <p:cNvSpPr/>
          <p:nvPr/>
        </p:nvSpPr>
        <p:spPr>
          <a:xfrm>
            <a:off x="7549039" y="4656534"/>
            <a:ext cx="6439853" cy="296704"/>
          </a:xfrm>
          <a:prstGeom prst="rect">
            <a:avLst/>
          </a:prstGeom>
          <a:noFill/>
          <a:ln/>
        </p:spPr>
        <p:txBody>
          <a:bodyPr wrap="none" lIns="0" tIns="0" rIns="0" bIns="0" rtlCol="0" anchor="t"/>
          <a:lstStyle/>
          <a:p>
            <a:pPr marL="0" indent="0" algn="l">
              <a:lnSpc>
                <a:spcPts val="2300"/>
              </a:lnSpc>
              <a:buNone/>
            </a:pPr>
            <a:r>
              <a:rPr lang="en-US" sz="1450" b="1" dirty="0">
                <a:solidFill>
                  <a:srgbClr val="6E6666"/>
                </a:solidFill>
                <a:latin typeface="Poppins" pitchFamily="34" charset="0"/>
                <a:ea typeface="Poppins" pitchFamily="34" charset="-122"/>
                <a:cs typeface="Poppins" pitchFamily="34" charset="-120"/>
              </a:rPr>
              <a:t>Actions proposées</a:t>
            </a:r>
            <a:r>
              <a:rPr lang="en-US" sz="1450" dirty="0">
                <a:solidFill>
                  <a:srgbClr val="6E6666"/>
                </a:solidFill>
                <a:latin typeface="Poppins" pitchFamily="34" charset="0"/>
                <a:ea typeface="Poppins" pitchFamily="34" charset="-122"/>
                <a:cs typeface="Poppins" pitchFamily="34" charset="-120"/>
              </a:rPr>
              <a:t> :</a:t>
            </a:r>
            <a:endParaRPr lang="en-US" sz="1450" dirty="0"/>
          </a:p>
        </p:txBody>
      </p:sp>
      <p:sp>
        <p:nvSpPr>
          <p:cNvPr id="7" name="Text 4"/>
          <p:cNvSpPr/>
          <p:nvPr/>
        </p:nvSpPr>
        <p:spPr>
          <a:xfrm>
            <a:off x="7549039" y="5120164"/>
            <a:ext cx="6439853" cy="2271593"/>
          </a:xfrm>
          <a:prstGeom prst="rect">
            <a:avLst/>
          </a:prstGeom>
          <a:noFill/>
          <a:ln/>
        </p:spPr>
        <p:txBody>
          <a:bodyPr wrap="square" lIns="0" tIns="0" rIns="0" bIns="0" rtlCol="0" anchor="t"/>
          <a:lstStyle/>
          <a:p>
            <a:pPr marL="342900" indent="-342900" algn="l">
              <a:lnSpc>
                <a:spcPts val="2300"/>
              </a:lnSpc>
              <a:buSzPct val="100000"/>
              <a:buFont typeface="+mj-lt"/>
              <a:buAutoNum type="arabicPeriod"/>
            </a:pPr>
            <a:r>
              <a:rPr lang="en-US" sz="1450" dirty="0">
                <a:solidFill>
                  <a:srgbClr val="6E6666"/>
                </a:solidFill>
                <a:latin typeface="Poppins" pitchFamily="34" charset="0"/>
                <a:ea typeface="Poppins" pitchFamily="34" charset="-122"/>
                <a:cs typeface="Poppins" pitchFamily="34" charset="-120"/>
              </a:rPr>
              <a:t>Sensibilisation et formations sur site via coopératives.</a:t>
            </a:r>
            <a:endParaRPr lang="en-US" sz="1450" dirty="0"/>
          </a:p>
          <a:p>
            <a:pPr marL="342900" indent="-342900" algn="l">
              <a:lnSpc>
                <a:spcPts val="2300"/>
              </a:lnSpc>
              <a:buSzPct val="100000"/>
              <a:buFont typeface="+mj-lt"/>
              <a:buAutoNum type="arabicPeriod" startAt="2"/>
            </a:pPr>
            <a:r>
              <a:rPr lang="en-US" sz="1450" dirty="0">
                <a:solidFill>
                  <a:srgbClr val="6E6666"/>
                </a:solidFill>
                <a:latin typeface="Poppins" pitchFamily="34" charset="0"/>
                <a:ea typeface="Poppins" pitchFamily="34" charset="-122"/>
                <a:cs typeface="Poppins" pitchFamily="34" charset="-120"/>
              </a:rPr>
              <a:t>Offres financières : micro‑paiements, crédit équipement, subventions partenaires.</a:t>
            </a:r>
            <a:endParaRPr lang="en-US" sz="1450" dirty="0"/>
          </a:p>
          <a:p>
            <a:pPr marL="342900" indent="-342900" algn="l">
              <a:lnSpc>
                <a:spcPts val="2300"/>
              </a:lnSpc>
              <a:buSzPct val="100000"/>
              <a:buFont typeface="+mj-lt"/>
              <a:buAutoNum type="arabicPeriod" startAt="3"/>
            </a:pPr>
            <a:r>
              <a:rPr lang="en-US" sz="1450" dirty="0">
                <a:solidFill>
                  <a:srgbClr val="6E6666"/>
                </a:solidFill>
                <a:latin typeface="Poppins" pitchFamily="34" charset="0"/>
                <a:ea typeface="Poppins" pitchFamily="34" charset="-122"/>
                <a:cs typeface="Poppins" pitchFamily="34" charset="-120"/>
              </a:rPr>
              <a:t>Architecture offline-first et communication LoRa/2G pour zones peu connectées.</a:t>
            </a:r>
            <a:endParaRPr lang="en-US" sz="1450" dirty="0"/>
          </a:p>
          <a:p>
            <a:pPr marL="342900" indent="-342900" algn="l">
              <a:lnSpc>
                <a:spcPts val="2300"/>
              </a:lnSpc>
              <a:buSzPct val="100000"/>
              <a:buFont typeface="+mj-lt"/>
              <a:buAutoNum type="arabicPeriod" startAt="4"/>
            </a:pPr>
            <a:r>
              <a:rPr lang="en-US" sz="1450" dirty="0">
                <a:solidFill>
                  <a:srgbClr val="6E6666"/>
                </a:solidFill>
                <a:latin typeface="Poppins" pitchFamily="34" charset="0"/>
                <a:ea typeface="Poppins" pitchFamily="34" charset="-122"/>
                <a:cs typeface="Poppins" pitchFamily="34" charset="-120"/>
              </a:rPr>
              <a:t>Phase pilote rigoureuse pour valider les données et ajuster l'algorithme.</a:t>
            </a:r>
            <a:endParaRPr lang="en-US" sz="1450" dirty="0"/>
          </a:p>
        </p:txBody>
      </p:sp>
      <p:sp>
        <p:nvSpPr>
          <p:cNvPr id="8" name="Rectangle 7">
            <a:extLst>
              <a:ext uri="{FF2B5EF4-FFF2-40B4-BE49-F238E27FC236}">
                <a16:creationId xmlns:a16="http://schemas.microsoft.com/office/drawing/2014/main" id="{D04288E3-E967-C1DA-5831-F09C717F2BD6}"/>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0920" y="438745"/>
            <a:ext cx="10503575" cy="689967"/>
          </a:xfrm>
          <a:prstGeom prst="rect">
            <a:avLst/>
          </a:prstGeom>
          <a:noFill/>
          <a:ln/>
        </p:spPr>
        <p:txBody>
          <a:bodyPr wrap="none" lIns="0" tIns="0" rIns="0" bIns="0" rtlCol="0" anchor="t"/>
          <a:lstStyle/>
          <a:p>
            <a:pPr marL="0" indent="0" algn="l">
              <a:lnSpc>
                <a:spcPts val="5400"/>
              </a:lnSpc>
              <a:buNone/>
            </a:pPr>
            <a:r>
              <a:rPr lang="en-US" sz="4300" dirty="0">
                <a:solidFill>
                  <a:srgbClr val="787878"/>
                </a:solidFill>
                <a:latin typeface="Baskervville" pitchFamily="34" charset="0"/>
                <a:ea typeface="Baskervville" pitchFamily="34" charset="-122"/>
                <a:cs typeface="Baskervville" pitchFamily="34" charset="-120"/>
              </a:rPr>
              <a:t>Axes complémentaires &amp; recommandations</a:t>
            </a:r>
            <a:endParaRPr lang="en-US" sz="4300" dirty="0"/>
          </a:p>
        </p:txBody>
      </p:sp>
      <p:pic>
        <p:nvPicPr>
          <p:cNvPr id="3" name="Image 0" descr="preencoded.png"/>
          <p:cNvPicPr>
            <a:picLocks noChangeAspect="1"/>
          </p:cNvPicPr>
          <p:nvPr/>
        </p:nvPicPr>
        <p:blipFill>
          <a:blip r:embed="rId3"/>
          <a:stretch>
            <a:fillRect/>
          </a:stretch>
        </p:blipFill>
        <p:spPr>
          <a:xfrm>
            <a:off x="690920" y="1383030"/>
            <a:ext cx="13248561" cy="5815727"/>
          </a:xfrm>
          <a:prstGeom prst="rect">
            <a:avLst/>
          </a:prstGeom>
        </p:spPr>
      </p:pic>
      <p:sp>
        <p:nvSpPr>
          <p:cNvPr id="4" name="Text 1"/>
          <p:cNvSpPr/>
          <p:nvPr/>
        </p:nvSpPr>
        <p:spPr>
          <a:xfrm>
            <a:off x="2938403" y="4902594"/>
            <a:ext cx="2322336" cy="1031573"/>
          </a:xfrm>
          <a:prstGeom prst="rect">
            <a:avLst/>
          </a:prstGeom>
          <a:noFill/>
          <a:ln/>
        </p:spPr>
        <p:txBody>
          <a:bodyPr wrap="square" lIns="0" tIns="0" rIns="0" bIns="0" rtlCol="0" anchor="t"/>
          <a:lstStyle/>
          <a:p>
            <a:pPr marL="0" indent="0" algn="ctr">
              <a:lnSpc>
                <a:spcPts val="4050"/>
              </a:lnSpc>
              <a:buNone/>
            </a:pPr>
            <a:r>
              <a:rPr lang="en-US" sz="3200" dirty="0">
                <a:solidFill>
                  <a:srgbClr val="787878"/>
                </a:solidFill>
                <a:latin typeface="Baskervville" pitchFamily="34" charset="0"/>
                <a:ea typeface="Baskervville" pitchFamily="34" charset="-122"/>
                <a:cs typeface="Baskervville" pitchFamily="34" charset="-120"/>
              </a:rPr>
              <a:t>Regional pilot</a:t>
            </a:r>
            <a:endParaRPr lang="en-US" sz="3200" dirty="0"/>
          </a:p>
        </p:txBody>
      </p:sp>
      <p:sp>
        <p:nvSpPr>
          <p:cNvPr id="5" name="Text 2"/>
          <p:cNvSpPr/>
          <p:nvPr/>
        </p:nvSpPr>
        <p:spPr>
          <a:xfrm>
            <a:off x="2938403" y="6036248"/>
            <a:ext cx="2322336" cy="524759"/>
          </a:xfrm>
          <a:prstGeom prst="rect">
            <a:avLst/>
          </a:prstGeom>
          <a:noFill/>
          <a:ln/>
        </p:spPr>
        <p:txBody>
          <a:bodyPr wrap="square" lIns="0" tIns="0" rIns="0" bIns="0" rtlCol="0" anchor="t"/>
          <a:lstStyle/>
          <a:p>
            <a:pPr marL="0" indent="0" algn="ctr">
              <a:lnSpc>
                <a:spcPts val="2050"/>
              </a:lnSpc>
              <a:buNone/>
            </a:pPr>
            <a:r>
              <a:rPr lang="en-US" sz="1800" dirty="0">
                <a:solidFill>
                  <a:srgbClr val="6E6666"/>
                </a:solidFill>
                <a:latin typeface="Poppins" pitchFamily="34" charset="0"/>
                <a:ea typeface="Poppins" pitchFamily="34" charset="-122"/>
                <a:cs typeface="Poppins" pitchFamily="34" charset="-120"/>
              </a:rPr>
              <a:t>Souss‑Massa: 50 farms</a:t>
            </a:r>
            <a:endParaRPr lang="en-US" sz="1800" dirty="0"/>
          </a:p>
        </p:txBody>
      </p:sp>
      <p:sp>
        <p:nvSpPr>
          <p:cNvPr id="6" name="Text 3"/>
          <p:cNvSpPr/>
          <p:nvPr/>
        </p:nvSpPr>
        <p:spPr>
          <a:xfrm>
            <a:off x="9458808" y="4813274"/>
            <a:ext cx="2322335" cy="1031573"/>
          </a:xfrm>
          <a:prstGeom prst="rect">
            <a:avLst/>
          </a:prstGeom>
          <a:noFill/>
          <a:ln/>
        </p:spPr>
        <p:txBody>
          <a:bodyPr wrap="square" lIns="0" tIns="0" rIns="0" bIns="0" rtlCol="0" anchor="t"/>
          <a:lstStyle/>
          <a:p>
            <a:pPr marL="0" indent="0" algn="ctr">
              <a:lnSpc>
                <a:spcPts val="4050"/>
              </a:lnSpc>
              <a:buNone/>
            </a:pPr>
            <a:r>
              <a:rPr lang="en-US" sz="3200" dirty="0">
                <a:solidFill>
                  <a:srgbClr val="787878"/>
                </a:solidFill>
                <a:latin typeface="Baskervville" pitchFamily="34" charset="0"/>
                <a:ea typeface="Baskervville" pitchFamily="34" charset="-122"/>
                <a:cs typeface="Baskervville" pitchFamily="34" charset="-120"/>
              </a:rPr>
              <a:t>National rollout</a:t>
            </a:r>
            <a:endParaRPr lang="en-US" sz="3200" dirty="0"/>
          </a:p>
        </p:txBody>
      </p:sp>
      <p:sp>
        <p:nvSpPr>
          <p:cNvPr id="7" name="Text 4"/>
          <p:cNvSpPr/>
          <p:nvPr/>
        </p:nvSpPr>
        <p:spPr>
          <a:xfrm>
            <a:off x="9458808" y="5946928"/>
            <a:ext cx="2322335" cy="524759"/>
          </a:xfrm>
          <a:prstGeom prst="rect">
            <a:avLst/>
          </a:prstGeom>
          <a:noFill/>
          <a:ln/>
        </p:spPr>
        <p:txBody>
          <a:bodyPr wrap="square" lIns="0" tIns="0" rIns="0" bIns="0" rtlCol="0" anchor="t"/>
          <a:lstStyle/>
          <a:p>
            <a:pPr marL="0" indent="0" algn="ctr">
              <a:lnSpc>
                <a:spcPts val="2050"/>
              </a:lnSpc>
              <a:buNone/>
            </a:pPr>
            <a:r>
              <a:rPr lang="en-US" sz="1800" dirty="0">
                <a:solidFill>
                  <a:srgbClr val="6E6666"/>
                </a:solidFill>
                <a:latin typeface="Poppins" pitchFamily="34" charset="0"/>
                <a:ea typeface="Poppins" pitchFamily="34" charset="-122"/>
                <a:cs typeface="Poppins" pitchFamily="34" charset="-120"/>
              </a:rPr>
              <a:t>Tiered pricing and training</a:t>
            </a:r>
            <a:endParaRPr lang="en-US" sz="1800" dirty="0"/>
          </a:p>
        </p:txBody>
      </p:sp>
      <p:sp>
        <p:nvSpPr>
          <p:cNvPr id="8" name="Text 5"/>
          <p:cNvSpPr/>
          <p:nvPr/>
        </p:nvSpPr>
        <p:spPr>
          <a:xfrm>
            <a:off x="6217746" y="1992896"/>
            <a:ext cx="2322336" cy="515787"/>
          </a:xfrm>
          <a:prstGeom prst="rect">
            <a:avLst/>
          </a:prstGeom>
          <a:noFill/>
          <a:ln/>
        </p:spPr>
        <p:txBody>
          <a:bodyPr wrap="none" lIns="0" tIns="0" rIns="0" bIns="0" rtlCol="0" anchor="t"/>
          <a:lstStyle/>
          <a:p>
            <a:pPr marL="0" indent="0" algn="ctr">
              <a:lnSpc>
                <a:spcPts val="4050"/>
              </a:lnSpc>
              <a:buNone/>
            </a:pPr>
            <a:r>
              <a:rPr lang="en-US" sz="3200" dirty="0">
                <a:solidFill>
                  <a:srgbClr val="787878"/>
                </a:solidFill>
                <a:latin typeface="Baskervville" pitchFamily="34" charset="0"/>
                <a:ea typeface="Baskervville" pitchFamily="34" charset="-122"/>
                <a:cs typeface="Baskervville" pitchFamily="34" charset="-120"/>
              </a:rPr>
              <a:t>Scale-up</a:t>
            </a:r>
            <a:endParaRPr lang="en-US" sz="3200" dirty="0"/>
          </a:p>
        </p:txBody>
      </p:sp>
      <p:sp>
        <p:nvSpPr>
          <p:cNvPr id="9" name="Text 6"/>
          <p:cNvSpPr/>
          <p:nvPr/>
        </p:nvSpPr>
        <p:spPr>
          <a:xfrm>
            <a:off x="6217746" y="2610763"/>
            <a:ext cx="2322336" cy="524758"/>
          </a:xfrm>
          <a:prstGeom prst="rect">
            <a:avLst/>
          </a:prstGeom>
          <a:noFill/>
          <a:ln/>
        </p:spPr>
        <p:txBody>
          <a:bodyPr wrap="square" lIns="0" tIns="0" rIns="0" bIns="0" rtlCol="0" anchor="t"/>
          <a:lstStyle/>
          <a:p>
            <a:pPr marL="0" indent="0" algn="ctr">
              <a:lnSpc>
                <a:spcPts val="2050"/>
              </a:lnSpc>
              <a:buNone/>
            </a:pPr>
            <a:r>
              <a:rPr lang="en-US" sz="1800" dirty="0">
                <a:solidFill>
                  <a:srgbClr val="6E6666"/>
                </a:solidFill>
                <a:latin typeface="Poppins" pitchFamily="34" charset="0"/>
                <a:ea typeface="Poppins" pitchFamily="34" charset="-122"/>
                <a:cs typeface="Poppins" pitchFamily="34" charset="-120"/>
              </a:rPr>
              <a:t>Via cooperatives and state programs</a:t>
            </a:r>
            <a:endParaRPr lang="en-US" sz="1800" dirty="0"/>
          </a:p>
        </p:txBody>
      </p:sp>
      <p:sp>
        <p:nvSpPr>
          <p:cNvPr id="10" name="Text 7"/>
          <p:cNvSpPr/>
          <p:nvPr/>
        </p:nvSpPr>
        <p:spPr>
          <a:xfrm>
            <a:off x="690920" y="7341751"/>
            <a:ext cx="13248561" cy="449104"/>
          </a:xfrm>
          <a:prstGeom prst="rect">
            <a:avLst/>
          </a:prstGeom>
          <a:noFill/>
          <a:ln/>
        </p:spPr>
        <p:txBody>
          <a:bodyPr wrap="square" lIns="0" tIns="0" rIns="0" bIns="0" rtlCol="0" anchor="t"/>
          <a:lstStyle/>
          <a:p>
            <a:pPr marL="0" indent="0" algn="l">
              <a:lnSpc>
                <a:spcPts val="1750"/>
              </a:lnSpc>
              <a:buNone/>
            </a:pPr>
            <a:r>
              <a:rPr lang="en-US" sz="1200" b="1" dirty="0">
                <a:solidFill>
                  <a:srgbClr val="6E6666"/>
                </a:solidFill>
                <a:latin typeface="Poppins" pitchFamily="34" charset="0"/>
                <a:ea typeface="Poppins" pitchFamily="34" charset="-122"/>
                <a:cs typeface="Poppins" pitchFamily="34" charset="-120"/>
              </a:rPr>
              <a:t>Compléments d'analyse recommandés :</a:t>
            </a:r>
            <a:r>
              <a:rPr lang="en-US" sz="1200" dirty="0">
                <a:solidFill>
                  <a:srgbClr val="6E6666"/>
                </a:solidFill>
                <a:latin typeface="Poppins" pitchFamily="34" charset="0"/>
                <a:ea typeface="Poppins" pitchFamily="34" charset="-122"/>
                <a:cs typeface="Poppins" pitchFamily="34" charset="-120"/>
              </a:rPr>
              <a:t> PESTEL approfondi, étude coûts/bénéfices terrain, comparaison chiffrée avec solutions importées et segmentation par cultures (tomates, agrumes). Prochaines étapes : lancer pilote, sécuriser partenaires institutionnels, affiner modèle hybride et plan tarifaire progressif.</a:t>
            </a:r>
            <a:endParaRPr lang="en-US" sz="1200" dirty="0"/>
          </a:p>
        </p:txBody>
      </p:sp>
      <p:sp>
        <p:nvSpPr>
          <p:cNvPr id="11" name="Rectangle 10">
            <a:extLst>
              <a:ext uri="{FF2B5EF4-FFF2-40B4-BE49-F238E27FC236}">
                <a16:creationId xmlns:a16="http://schemas.microsoft.com/office/drawing/2014/main" id="{48F89B17-3CB3-35A4-7096-3501954477AC}"/>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8047" y="636151"/>
            <a:ext cx="9712762" cy="729020"/>
          </a:xfrm>
          <a:prstGeom prst="rect">
            <a:avLst/>
          </a:prstGeom>
          <a:noFill/>
          <a:ln/>
        </p:spPr>
        <p:txBody>
          <a:bodyPr wrap="none" lIns="0" tIns="0" rIns="0" bIns="0" rtlCol="0" anchor="t"/>
          <a:lstStyle/>
          <a:p>
            <a:pPr marL="0" indent="0" algn="l">
              <a:lnSpc>
                <a:spcPts val="5700"/>
              </a:lnSpc>
              <a:buNone/>
            </a:pPr>
            <a:r>
              <a:rPr lang="en-US" sz="4550" dirty="0">
                <a:solidFill>
                  <a:srgbClr val="787878"/>
                </a:solidFill>
                <a:latin typeface="Baskervville" pitchFamily="34" charset="0"/>
                <a:ea typeface="Baskervville" pitchFamily="34" charset="-122"/>
                <a:cs typeface="Baskervville" pitchFamily="34" charset="-120"/>
              </a:rPr>
              <a:t>Business model, marché &amp; projections</a:t>
            </a:r>
            <a:endParaRPr lang="en-US" sz="4550" dirty="0"/>
          </a:p>
        </p:txBody>
      </p:sp>
      <p:pic>
        <p:nvPicPr>
          <p:cNvPr id="3" name="Image 0" descr="preencoded.png"/>
          <p:cNvPicPr>
            <a:picLocks noChangeAspect="1"/>
          </p:cNvPicPr>
          <p:nvPr/>
        </p:nvPicPr>
        <p:blipFill>
          <a:blip r:embed="rId3"/>
          <a:stretch>
            <a:fillRect/>
          </a:stretch>
        </p:blipFill>
        <p:spPr>
          <a:xfrm>
            <a:off x="568047" y="3213973"/>
            <a:ext cx="923806" cy="1154668"/>
          </a:xfrm>
          <a:prstGeom prst="rect">
            <a:avLst/>
          </a:prstGeom>
        </p:spPr>
      </p:pic>
      <p:sp>
        <p:nvSpPr>
          <p:cNvPr id="4" name="Text 1"/>
          <p:cNvSpPr/>
          <p:nvPr/>
        </p:nvSpPr>
        <p:spPr>
          <a:xfrm>
            <a:off x="1669256" y="3213973"/>
            <a:ext cx="2084665" cy="364450"/>
          </a:xfrm>
          <a:prstGeom prst="rect">
            <a:avLst/>
          </a:prstGeom>
          <a:noFill/>
          <a:ln/>
        </p:spPr>
        <p:txBody>
          <a:bodyPr wrap="none" lIns="0" tIns="0" rIns="0" bIns="0" rtlCol="0" anchor="t"/>
          <a:lstStyle/>
          <a:p>
            <a:pPr marL="0" indent="0" algn="l">
              <a:lnSpc>
                <a:spcPts val="2850"/>
              </a:lnSpc>
              <a:buNone/>
            </a:pPr>
            <a:r>
              <a:rPr lang="en-US" sz="2250" dirty="0">
                <a:solidFill>
                  <a:srgbClr val="6E6666"/>
                </a:solidFill>
                <a:latin typeface="Baskervville" pitchFamily="34" charset="0"/>
                <a:ea typeface="Baskervville" pitchFamily="34" charset="-122"/>
                <a:cs typeface="Baskervville" pitchFamily="34" charset="-120"/>
              </a:rPr>
              <a:t>Segment cible</a:t>
            </a:r>
            <a:endParaRPr lang="en-US" sz="2250" dirty="0"/>
          </a:p>
        </p:txBody>
      </p:sp>
      <p:sp>
        <p:nvSpPr>
          <p:cNvPr id="5" name="Text 2"/>
          <p:cNvSpPr/>
          <p:nvPr/>
        </p:nvSpPr>
        <p:spPr>
          <a:xfrm>
            <a:off x="1669256" y="3720346"/>
            <a:ext cx="2084665" cy="973455"/>
          </a:xfrm>
          <a:prstGeom prst="rect">
            <a:avLst/>
          </a:prstGeom>
          <a:noFill/>
          <a:ln/>
        </p:spPr>
        <p:txBody>
          <a:bodyPr wrap="square" lIns="0" tIns="0" rIns="0" bIns="0" rtlCol="0" anchor="t"/>
          <a:lstStyle/>
          <a:p>
            <a:pPr marL="0" indent="0" algn="l">
              <a:lnSpc>
                <a:spcPts val="1900"/>
              </a:lnSpc>
              <a:buNone/>
            </a:pPr>
            <a:r>
              <a:rPr lang="en-US" sz="1250" dirty="0">
                <a:solidFill>
                  <a:srgbClr val="6E6666"/>
                </a:solidFill>
                <a:latin typeface="Poppins" pitchFamily="34" charset="0"/>
                <a:ea typeface="Poppins" pitchFamily="34" charset="-122"/>
                <a:cs typeface="Poppins" pitchFamily="34" charset="-120"/>
              </a:rPr>
              <a:t>Petits (&lt;5 ha) &amp; moyens (5–20 ha) agriculteurs, coopératives et institutions publiques.</a:t>
            </a:r>
            <a:endParaRPr lang="en-US" sz="1250" dirty="0"/>
          </a:p>
        </p:txBody>
      </p:sp>
      <p:pic>
        <p:nvPicPr>
          <p:cNvPr id="6" name="Image 1" descr="preencoded.png"/>
          <p:cNvPicPr>
            <a:picLocks noChangeAspect="1"/>
          </p:cNvPicPr>
          <p:nvPr/>
        </p:nvPicPr>
        <p:blipFill>
          <a:blip r:embed="rId4"/>
          <a:stretch>
            <a:fillRect/>
          </a:stretch>
        </p:blipFill>
        <p:spPr>
          <a:xfrm>
            <a:off x="3931325" y="3213973"/>
            <a:ext cx="923806" cy="1154668"/>
          </a:xfrm>
          <a:prstGeom prst="rect">
            <a:avLst/>
          </a:prstGeom>
        </p:spPr>
      </p:pic>
      <p:sp>
        <p:nvSpPr>
          <p:cNvPr id="7" name="Text 3"/>
          <p:cNvSpPr/>
          <p:nvPr/>
        </p:nvSpPr>
        <p:spPr>
          <a:xfrm>
            <a:off x="5032534" y="3213973"/>
            <a:ext cx="2084665" cy="728901"/>
          </a:xfrm>
          <a:prstGeom prst="rect">
            <a:avLst/>
          </a:prstGeom>
          <a:noFill/>
          <a:ln/>
        </p:spPr>
        <p:txBody>
          <a:bodyPr wrap="square" lIns="0" tIns="0" rIns="0" bIns="0" rtlCol="0" anchor="t"/>
          <a:lstStyle/>
          <a:p>
            <a:pPr marL="0" indent="0" algn="l">
              <a:lnSpc>
                <a:spcPts val="2850"/>
              </a:lnSpc>
              <a:buNone/>
            </a:pPr>
            <a:r>
              <a:rPr lang="en-US" sz="2250" dirty="0">
                <a:solidFill>
                  <a:srgbClr val="6E6666"/>
                </a:solidFill>
                <a:latin typeface="Baskervville" pitchFamily="34" charset="0"/>
                <a:ea typeface="Baskervville" pitchFamily="34" charset="-122"/>
                <a:cs typeface="Baskervville" pitchFamily="34" charset="-120"/>
              </a:rPr>
              <a:t>Offre commerciale</a:t>
            </a:r>
            <a:endParaRPr lang="en-US" sz="2250" dirty="0"/>
          </a:p>
        </p:txBody>
      </p:sp>
      <p:sp>
        <p:nvSpPr>
          <p:cNvPr id="8" name="Text 4"/>
          <p:cNvSpPr/>
          <p:nvPr/>
        </p:nvSpPr>
        <p:spPr>
          <a:xfrm>
            <a:off x="5032534" y="4084796"/>
            <a:ext cx="2084665" cy="1216819"/>
          </a:xfrm>
          <a:prstGeom prst="rect">
            <a:avLst/>
          </a:prstGeom>
          <a:noFill/>
          <a:ln/>
        </p:spPr>
        <p:txBody>
          <a:bodyPr wrap="square" lIns="0" tIns="0" rIns="0" bIns="0" rtlCol="0" anchor="t"/>
          <a:lstStyle/>
          <a:p>
            <a:pPr marL="0" indent="0" algn="l">
              <a:lnSpc>
                <a:spcPts val="1900"/>
              </a:lnSpc>
              <a:buNone/>
            </a:pPr>
            <a:r>
              <a:rPr lang="en-US" sz="1250" dirty="0">
                <a:solidFill>
                  <a:srgbClr val="6E6666"/>
                </a:solidFill>
                <a:latin typeface="Poppins" pitchFamily="34" charset="0"/>
                <a:ea typeface="Poppins" pitchFamily="34" charset="-122"/>
                <a:cs typeface="Poppins" pitchFamily="34" charset="-120"/>
              </a:rPr>
              <a:t>Vente de kits IoT (1 500–2 000 MAD) + abonnements SaaS (Basic 99 / Pro 199 / Premium 299 MAD/mois).</a:t>
            </a:r>
            <a:endParaRPr lang="en-US" sz="1250" dirty="0"/>
          </a:p>
        </p:txBody>
      </p:sp>
      <p:sp>
        <p:nvSpPr>
          <p:cNvPr id="9" name="Text 5"/>
          <p:cNvSpPr/>
          <p:nvPr/>
        </p:nvSpPr>
        <p:spPr>
          <a:xfrm>
            <a:off x="7520821" y="1720096"/>
            <a:ext cx="2916317" cy="364450"/>
          </a:xfrm>
          <a:prstGeom prst="rect">
            <a:avLst/>
          </a:prstGeom>
          <a:noFill/>
          <a:ln/>
        </p:spPr>
        <p:txBody>
          <a:bodyPr wrap="none" lIns="0" tIns="0" rIns="0" bIns="0" rtlCol="0" anchor="t"/>
          <a:lstStyle/>
          <a:p>
            <a:pPr marL="0" indent="0" algn="l">
              <a:lnSpc>
                <a:spcPts val="2850"/>
              </a:lnSpc>
              <a:buNone/>
            </a:pPr>
            <a:r>
              <a:rPr lang="en-US" sz="2250" dirty="0">
                <a:solidFill>
                  <a:srgbClr val="787878"/>
                </a:solidFill>
                <a:latin typeface="Baskervville" pitchFamily="34" charset="0"/>
                <a:ea typeface="Baskervville" pitchFamily="34" charset="-122"/>
                <a:cs typeface="Baskervville" pitchFamily="34" charset="-120"/>
              </a:rPr>
              <a:t>Projections &amp; coûts</a:t>
            </a:r>
            <a:endParaRPr lang="en-US" sz="2250" dirty="0"/>
          </a:p>
        </p:txBody>
      </p:sp>
      <p:sp>
        <p:nvSpPr>
          <p:cNvPr id="10" name="Text 6"/>
          <p:cNvSpPr/>
          <p:nvPr/>
        </p:nvSpPr>
        <p:spPr>
          <a:xfrm>
            <a:off x="7520821" y="2226469"/>
            <a:ext cx="6549152" cy="486728"/>
          </a:xfrm>
          <a:prstGeom prst="rect">
            <a:avLst/>
          </a:prstGeom>
          <a:noFill/>
          <a:ln/>
        </p:spPr>
        <p:txBody>
          <a:bodyPr wrap="square" lIns="0" tIns="0" rIns="0" bIns="0" rtlCol="0" anchor="t"/>
          <a:lstStyle/>
          <a:p>
            <a:pPr marL="0" indent="0" algn="l">
              <a:lnSpc>
                <a:spcPts val="1900"/>
              </a:lnSpc>
              <a:buNone/>
            </a:pPr>
            <a:r>
              <a:rPr lang="en-US" sz="1250" dirty="0">
                <a:solidFill>
                  <a:srgbClr val="6E6666"/>
                </a:solidFill>
                <a:latin typeface="Poppins" pitchFamily="34" charset="0"/>
                <a:ea typeface="Poppins" pitchFamily="34" charset="-122"/>
                <a:cs typeface="Poppins" pitchFamily="34" charset="-120"/>
              </a:rPr>
              <a:t>Projection 3 ans : 750k → 1.45M → 2.4M MAD de revenus annuels. Coûts annuels estimés : 1 000 000 MAD. Rentabilité prévue dès la 2e année.</a:t>
            </a:r>
            <a:endParaRPr lang="en-US" sz="1250" dirty="0"/>
          </a:p>
        </p:txBody>
      </p:sp>
      <p:sp>
        <p:nvSpPr>
          <p:cNvPr id="11" name="Text 7"/>
          <p:cNvSpPr/>
          <p:nvPr/>
        </p:nvSpPr>
        <p:spPr>
          <a:xfrm>
            <a:off x="7520821" y="2855119"/>
            <a:ext cx="2968347" cy="364450"/>
          </a:xfrm>
          <a:prstGeom prst="rect">
            <a:avLst/>
          </a:prstGeom>
          <a:noFill/>
          <a:ln/>
        </p:spPr>
        <p:txBody>
          <a:bodyPr wrap="none" lIns="0" tIns="0" rIns="0" bIns="0" rtlCol="0" anchor="t"/>
          <a:lstStyle/>
          <a:p>
            <a:pPr marL="0" indent="0" algn="l">
              <a:lnSpc>
                <a:spcPts val="2850"/>
              </a:lnSpc>
              <a:buNone/>
            </a:pPr>
            <a:r>
              <a:rPr lang="en-US" sz="2250" dirty="0">
                <a:solidFill>
                  <a:srgbClr val="787878"/>
                </a:solidFill>
                <a:latin typeface="Baskervville" pitchFamily="34" charset="0"/>
                <a:ea typeface="Baskervville" pitchFamily="34" charset="-122"/>
                <a:cs typeface="Baskervville" pitchFamily="34" charset="-120"/>
              </a:rPr>
              <a:t>Risques &amp; opportunités</a:t>
            </a:r>
            <a:endParaRPr lang="en-US" sz="2250" dirty="0"/>
          </a:p>
        </p:txBody>
      </p:sp>
      <p:sp>
        <p:nvSpPr>
          <p:cNvPr id="12" name="Text 8"/>
          <p:cNvSpPr/>
          <p:nvPr/>
        </p:nvSpPr>
        <p:spPr>
          <a:xfrm>
            <a:off x="7520821" y="3361492"/>
            <a:ext cx="6549152" cy="779740"/>
          </a:xfrm>
          <a:prstGeom prst="rect">
            <a:avLst/>
          </a:prstGeom>
          <a:noFill/>
          <a:ln/>
        </p:spPr>
        <p:txBody>
          <a:bodyPr wrap="square" lIns="0" tIns="0" rIns="0" bIns="0" rtlCol="0" anchor="t"/>
          <a:lstStyle/>
          <a:p>
            <a:pPr marL="342900" indent="-342900" algn="l">
              <a:lnSpc>
                <a:spcPts val="1900"/>
              </a:lnSpc>
              <a:buSzPct val="100000"/>
              <a:buChar char="•"/>
            </a:pPr>
            <a:r>
              <a:rPr lang="en-US" sz="1250" dirty="0">
                <a:solidFill>
                  <a:srgbClr val="6E6666"/>
                </a:solidFill>
                <a:latin typeface="Poppins" pitchFamily="34" charset="0"/>
                <a:ea typeface="Poppins" pitchFamily="34" charset="-122"/>
                <a:cs typeface="Poppins" pitchFamily="34" charset="-120"/>
              </a:rPr>
              <a:t>Opportunités : croissance AgriTech, soutien Génération Green, fort besoin local.</a:t>
            </a:r>
            <a:endParaRPr lang="en-US" sz="1250" dirty="0"/>
          </a:p>
          <a:p>
            <a:pPr marL="342900" indent="-342900" algn="l">
              <a:lnSpc>
                <a:spcPts val="1900"/>
              </a:lnSpc>
              <a:buSzPct val="100000"/>
              <a:buChar char="•"/>
            </a:pPr>
            <a:r>
              <a:rPr lang="en-US" sz="1250" dirty="0">
                <a:solidFill>
                  <a:srgbClr val="6E6666"/>
                </a:solidFill>
                <a:latin typeface="Poppins" pitchFamily="34" charset="0"/>
                <a:ea typeface="Poppins" pitchFamily="34" charset="-122"/>
                <a:cs typeface="Poppins" pitchFamily="34" charset="-120"/>
              </a:rPr>
              <a:t>Risques : adoption lente, accès internet limité, contraintes financières initiales.</a:t>
            </a:r>
            <a:endParaRPr lang="en-US" sz="1250" dirty="0"/>
          </a:p>
        </p:txBody>
      </p:sp>
      <p:pic>
        <p:nvPicPr>
          <p:cNvPr id="13" name="Image 2" descr="preencoded.png"/>
          <p:cNvPicPr>
            <a:picLocks noChangeAspect="1"/>
          </p:cNvPicPr>
          <p:nvPr/>
        </p:nvPicPr>
        <p:blipFill>
          <a:blip r:embed="rId5"/>
          <a:stretch>
            <a:fillRect/>
          </a:stretch>
        </p:blipFill>
        <p:spPr>
          <a:xfrm>
            <a:off x="7528441" y="4346972"/>
            <a:ext cx="6533912" cy="2434471"/>
          </a:xfrm>
          <a:prstGeom prst="rect">
            <a:avLst/>
          </a:prstGeom>
        </p:spPr>
      </p:pic>
      <p:sp>
        <p:nvSpPr>
          <p:cNvPr id="14" name="Shape 9"/>
          <p:cNvSpPr/>
          <p:nvPr/>
        </p:nvSpPr>
        <p:spPr>
          <a:xfrm>
            <a:off x="568047" y="7137678"/>
            <a:ext cx="13494306" cy="12144"/>
          </a:xfrm>
          <a:prstGeom prst="rect">
            <a:avLst/>
          </a:prstGeom>
          <a:solidFill>
            <a:srgbClr val="6E6666">
              <a:alpha val="50000"/>
            </a:srgbClr>
          </a:solidFill>
          <a:ln/>
        </p:spPr>
      </p:sp>
      <p:sp>
        <p:nvSpPr>
          <p:cNvPr id="15" name="Text 10"/>
          <p:cNvSpPr/>
          <p:nvPr/>
        </p:nvSpPr>
        <p:spPr>
          <a:xfrm>
            <a:off x="568047" y="7349966"/>
            <a:ext cx="13494306" cy="243364"/>
          </a:xfrm>
          <a:prstGeom prst="rect">
            <a:avLst/>
          </a:prstGeom>
          <a:noFill/>
          <a:ln/>
        </p:spPr>
        <p:txBody>
          <a:bodyPr wrap="none" lIns="0" tIns="0" rIns="0" bIns="0" rtlCol="0" anchor="t"/>
          <a:lstStyle/>
          <a:p>
            <a:pPr marL="0" indent="0" algn="ctr">
              <a:lnSpc>
                <a:spcPts val="1900"/>
              </a:lnSpc>
              <a:buNone/>
            </a:pPr>
            <a:r>
              <a:rPr lang="en-US" sz="1250" dirty="0">
                <a:solidFill>
                  <a:srgbClr val="6E6666"/>
                </a:solidFill>
                <a:latin typeface="Poppins" pitchFamily="34" charset="0"/>
                <a:ea typeface="Poppins" pitchFamily="34" charset="-122"/>
                <a:cs typeface="Poppins" pitchFamily="34" charset="-120"/>
              </a:rPr>
              <a:t>Conclusion — AquaSmart : solution locale, intelligente et évolutive pour une irrigation durable à Souss‑Massa.</a:t>
            </a:r>
            <a:endParaRPr lang="en-US" sz="1250" dirty="0"/>
          </a:p>
        </p:txBody>
      </p:sp>
      <p:sp>
        <p:nvSpPr>
          <p:cNvPr id="16" name="Rectangle 15">
            <a:extLst>
              <a:ext uri="{FF2B5EF4-FFF2-40B4-BE49-F238E27FC236}">
                <a16:creationId xmlns:a16="http://schemas.microsoft.com/office/drawing/2014/main" id="{D9DF8688-754C-769B-8E48-D427338A242B}"/>
              </a:ext>
            </a:extLst>
          </p:cNvPr>
          <p:cNvSpPr/>
          <p:nvPr/>
        </p:nvSpPr>
        <p:spPr>
          <a:xfrm>
            <a:off x="10214811" y="7615989"/>
            <a:ext cx="5790962" cy="8061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plant&#10;&#10;AI-generated content may be incorrect.">
            <a:extLst>
              <a:ext uri="{FF2B5EF4-FFF2-40B4-BE49-F238E27FC236}">
                <a16:creationId xmlns:a16="http://schemas.microsoft.com/office/drawing/2014/main" id="{15B0DC6F-05AD-036B-6301-14F96C6DB7D1}"/>
              </a:ext>
            </a:extLst>
          </p:cNvPr>
          <p:cNvPicPr>
            <a:picLocks noChangeAspect="1"/>
          </p:cNvPicPr>
          <p:nvPr/>
        </p:nvPicPr>
        <p:blipFill>
          <a:blip r:embed="rId2"/>
          <a:stretch>
            <a:fillRect/>
          </a:stretch>
        </p:blipFill>
        <p:spPr>
          <a:xfrm>
            <a:off x="0" y="0"/>
            <a:ext cx="14630400" cy="8229600"/>
          </a:xfrm>
          <a:prstGeom prst="rect">
            <a:avLst/>
          </a:prstGeom>
        </p:spPr>
      </p:pic>
      <p:sp>
        <p:nvSpPr>
          <p:cNvPr id="5" name="TextBox 4">
            <a:extLst>
              <a:ext uri="{FF2B5EF4-FFF2-40B4-BE49-F238E27FC236}">
                <a16:creationId xmlns:a16="http://schemas.microsoft.com/office/drawing/2014/main" id="{BA024CEC-B08F-B29D-8AE1-A46E8D40AC7C}"/>
              </a:ext>
            </a:extLst>
          </p:cNvPr>
          <p:cNvSpPr txBox="1"/>
          <p:nvPr/>
        </p:nvSpPr>
        <p:spPr>
          <a:xfrm>
            <a:off x="2514600" y="6510698"/>
            <a:ext cx="9601200" cy="1091709"/>
          </a:xfrm>
          <a:prstGeom prst="rect">
            <a:avLst/>
          </a:prstGeom>
          <a:noFill/>
        </p:spPr>
        <p:txBody>
          <a:bodyPr wrap="square">
            <a:spAutoFit/>
          </a:bodyPr>
          <a:lstStyle/>
          <a:p>
            <a:pPr>
              <a:lnSpc>
                <a:spcPts val="6550"/>
              </a:lnSpc>
            </a:pPr>
            <a:r>
              <a:rPr lang="en-US" sz="13800" kern="100" dirty="0">
                <a:solidFill>
                  <a:schemeClr val="bg1"/>
                </a:solidFill>
                <a:effectLst/>
                <a:latin typeface="Bahnschrift SemiBold" panose="020B0502040204020203" pitchFamily="34" charset="0"/>
                <a:ea typeface="Aptos" panose="020B0004020202020204" pitchFamily="34" charset="0"/>
                <a:cs typeface="Times New Roman" panose="02020603050405020304" pitchFamily="18" charset="0"/>
              </a:rPr>
              <a:t>Conclusion </a:t>
            </a:r>
            <a:endParaRPr lang="fr-FR" sz="13800" kern="100" dirty="0">
              <a:solidFill>
                <a:schemeClr val="bg1"/>
              </a:solidFill>
              <a:effectLst/>
              <a:latin typeface="Bahnschrift SemiBold" panose="020B0502040204020203"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09866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E6B906-0AB4-AEAE-8333-9B270F6F9CCC}"/>
              </a:ext>
            </a:extLst>
          </p:cNvPr>
          <p:cNvSpPr txBox="1"/>
          <p:nvPr/>
        </p:nvSpPr>
        <p:spPr>
          <a:xfrm>
            <a:off x="1106905" y="435263"/>
            <a:ext cx="7315200" cy="1634422"/>
          </a:xfrm>
          <a:prstGeom prst="rect">
            <a:avLst/>
          </a:prstGeom>
          <a:noFill/>
        </p:spPr>
        <p:txBody>
          <a:bodyPr wrap="square">
            <a:spAutoFit/>
          </a:bodyPr>
          <a:lstStyle/>
          <a:p>
            <a:pPr>
              <a:lnSpc>
                <a:spcPts val="6550"/>
              </a:lnSpc>
            </a:pPr>
            <a:r>
              <a:rPr lang="en-US" sz="4000" b="1" dirty="0" err="1">
                <a:solidFill>
                  <a:srgbClr val="787878"/>
                </a:solidFill>
                <a:latin typeface="Baskervville" pitchFamily="34" charset="0"/>
              </a:rPr>
              <a:t>Bibliographie</a:t>
            </a:r>
            <a:endParaRPr lang="fr-FR" sz="4000" b="1"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l">
              <a:lnSpc>
                <a:spcPts val="6550"/>
              </a:lnSpc>
              <a:buNone/>
            </a:pPr>
            <a:endParaRPr lang="en-US" sz="1800" dirty="0"/>
          </a:p>
        </p:txBody>
      </p:sp>
      <p:sp>
        <p:nvSpPr>
          <p:cNvPr id="5" name="TextBox 4">
            <a:extLst>
              <a:ext uri="{FF2B5EF4-FFF2-40B4-BE49-F238E27FC236}">
                <a16:creationId xmlns:a16="http://schemas.microsoft.com/office/drawing/2014/main" id="{320434DE-664F-A23B-0987-2D58506AAE6C}"/>
              </a:ext>
            </a:extLst>
          </p:cNvPr>
          <p:cNvSpPr txBox="1"/>
          <p:nvPr/>
        </p:nvSpPr>
        <p:spPr>
          <a:xfrm>
            <a:off x="1329489" y="1359959"/>
            <a:ext cx="11971421" cy="6447599"/>
          </a:xfrm>
          <a:prstGeom prst="rect">
            <a:avLst/>
          </a:prstGeom>
          <a:noFill/>
        </p:spPr>
        <p:txBody>
          <a:bodyPr wrap="square">
            <a:spAutoFit/>
          </a:bodyPr>
          <a:lstStyle/>
          <a:p>
            <a:pPr marL="285750" lvl="0" indent="-285750" algn="just">
              <a:lnSpc>
                <a:spcPct val="115000"/>
              </a:lnSpc>
              <a:buFont typeface="Wingdings" panose="05000000000000000000" pitchFamily="2" charset="2"/>
              <a:buChar char="v"/>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Banque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mondiale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(2020).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Water Scarcity in Morocco: Analysis of Key Water Challenges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Washington, DC: World Bank.</a:t>
            </a:r>
          </a:p>
          <a:p>
            <a:pPr marL="285750" lvl="0" indent="-285750" algn="just">
              <a:lnSpc>
                <a:spcPct val="115000"/>
              </a:lnSpc>
              <a:buFont typeface="Wingdings" panose="05000000000000000000" pitchFamily="2" charset="2"/>
              <a:buChar char="v"/>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Ministère de l’Agriculture, de la Pêche Maritime, du Développement Rural et des Eaux et Forêts. (2020). </a:t>
            </a:r>
            <a:r>
              <a:rPr lang="fr-FR" sz="1800" i="1" kern="100" dirty="0">
                <a:effectLst/>
                <a:latin typeface="Aptos" panose="020B0004020202020204" pitchFamily="34" charset="0"/>
                <a:ea typeface="Aptos" panose="020B0004020202020204" pitchFamily="34" charset="0"/>
                <a:cs typeface="Times New Roman" panose="02020603050405020304" pitchFamily="18" charset="0"/>
              </a:rPr>
              <a:t>Stratégie Génération Green 2020–2030</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Rabat: Gouvernement du Maroc.</a:t>
            </a:r>
          </a:p>
          <a:p>
            <a:pPr marL="285750" lvl="0" indent="-285750" algn="just">
              <a:lnSpc>
                <a:spcPct val="115000"/>
              </a:lnSpc>
              <a:buFont typeface="Wingdings" panose="05000000000000000000" pitchFamily="2" charset="2"/>
              <a:buChar char="v"/>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fr-FR" sz="1800" kern="100" dirty="0" err="1">
                <a:effectLst/>
                <a:latin typeface="Aptos" panose="020B0004020202020204" pitchFamily="34" charset="0"/>
                <a:ea typeface="Aptos" panose="020B0004020202020204" pitchFamily="34" charset="0"/>
                <a:cs typeface="Times New Roman" panose="02020603050405020304" pitchFamily="18" charset="0"/>
              </a:rPr>
              <a:t>Youth</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Policy Center.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(2025).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Morocco’s Water Strategy: Challenges and Perspectives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Rabat: YPC Publications.</a:t>
            </a:r>
          </a:p>
          <a:p>
            <a:pPr marL="285750" lvl="0" indent="-285750" algn="just">
              <a:lnSpc>
                <a:spcPct val="115000"/>
              </a:lnSpc>
              <a:buFont typeface="Wingdings" panose="05000000000000000000" pitchFamily="2" charset="2"/>
              <a:buChar char="v"/>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Grand View Research. (2024).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Smart Irrigation Market Size, Share &amp; Trends Analysis Report, 2024–2033</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San Francisco: Grand View Research.</a:t>
            </a:r>
          </a:p>
          <a:p>
            <a:pPr marL="285750" lvl="0" indent="-285750" algn="just">
              <a:lnSpc>
                <a:spcPct val="115000"/>
              </a:lnSpc>
              <a:buFont typeface="Wingdings" panose="05000000000000000000" pitchFamily="2" charset="2"/>
              <a:buChar char="v"/>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MarketsandMarkets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(2025).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Smart Irrigation Market by Component, Technology, Application, and Region — Global Forecast to 2030</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Pune: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MarketsandMarkets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285750" lvl="0" indent="-285750" algn="just">
              <a:lnSpc>
                <a:spcPct val="115000"/>
              </a:lnSpc>
              <a:buFont typeface="Wingdings" panose="05000000000000000000" pitchFamily="2" charset="2"/>
              <a:buChar char="v"/>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AI Morocco. (2024).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Artificial Intelligence for Smart Irrigation Solutions in Morocco</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Casablanca: AI Morocco Reports.</a:t>
            </a:r>
          </a:p>
          <a:p>
            <a:pPr marL="285750" lvl="0" indent="-285750" algn="just">
              <a:lnSpc>
                <a:spcPct val="115000"/>
              </a:lnSpc>
              <a:buFont typeface="Wingdings" panose="05000000000000000000" pitchFamily="2" charset="2"/>
              <a:buChar char="v"/>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gn="just">
              <a:lnSpc>
                <a:spcPct val="115000"/>
              </a:lnSpc>
              <a:buFont typeface="Wingdings" panose="05000000000000000000" pitchFamily="2" charset="2"/>
              <a:buChar char="v"/>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Université Sidi Mohamed Ben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Abdellah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(2025). </a:t>
            </a:r>
            <a:r>
              <a:rPr lang="fr-FR" sz="1800" i="1" kern="100" dirty="0">
                <a:effectLst/>
                <a:latin typeface="Aptos" panose="020B0004020202020204" pitchFamily="34" charset="0"/>
                <a:ea typeface="Aptos" panose="020B0004020202020204" pitchFamily="34" charset="0"/>
                <a:cs typeface="Times New Roman" panose="02020603050405020304" pitchFamily="18" charset="0"/>
              </a:rPr>
              <a:t>Projet Smart Irrigation basé sur ESP32 et logique floue</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Fès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USMBA Publications.</a:t>
            </a:r>
          </a:p>
          <a:p>
            <a:pPr marL="285750" lvl="0" indent="-285750" algn="just">
              <a:lnSpc>
                <a:spcPct val="115000"/>
              </a:lnSpc>
              <a:buFont typeface="Wingdings" panose="05000000000000000000" pitchFamily="2" charset="2"/>
              <a:buChar char="v"/>
            </a:pP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lvl="0" indent="-285750" algn="just">
              <a:lnSpc>
                <a:spcPct val="115000"/>
              </a:lnSpc>
              <a:spcAft>
                <a:spcPts val="800"/>
              </a:spcAft>
              <a:buFont typeface="Wingdings" panose="05000000000000000000" pitchFamily="2" charset="2"/>
              <a:buChar char="v"/>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Agro</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LoRa. (2024).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IoT Solutions for Agriculture in Morocco</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Marrakech: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Agro</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LoRa White Paper.</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022F8CC3-4B0E-F55A-08DC-6727C2307C4C}"/>
              </a:ext>
            </a:extLst>
          </p:cNvPr>
          <p:cNvSpPr/>
          <p:nvPr/>
        </p:nvSpPr>
        <p:spPr>
          <a:xfrm>
            <a:off x="12464716" y="7652084"/>
            <a:ext cx="2995863" cy="5934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518651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1526</Words>
  <Application>Microsoft Office PowerPoint</Application>
  <PresentationFormat>Custom</PresentationFormat>
  <Paragraphs>163</Paragraphs>
  <Slides>21</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Bahnschrift SemiBold</vt:lpstr>
      <vt:lpstr>Poppins</vt:lpstr>
      <vt:lpstr>Wingdings</vt:lpstr>
      <vt:lpstr>Baskervville</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Noura 😊😊</dc:creator>
  <cp:lastModifiedBy>Noura 😊😊</cp:lastModifiedBy>
  <cp:revision>2</cp:revision>
  <dcterms:created xsi:type="dcterms:W3CDTF">2026-04-22T17:27:16Z</dcterms:created>
  <dcterms:modified xsi:type="dcterms:W3CDTF">2026-04-22T23:28:24Z</dcterms:modified>
</cp:coreProperties>
</file>